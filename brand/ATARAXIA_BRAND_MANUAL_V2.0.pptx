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1736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78559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436584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6420395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461691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00868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3554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3852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4751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378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6535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412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069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64453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286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944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187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3242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8883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173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62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388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3584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2256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151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3510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00875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2855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2686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8734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944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9200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4059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24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6890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5557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64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859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87084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707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1554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93918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503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56297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5464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508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5057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33485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099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687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4374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4308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4661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2863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606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6521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0342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4518224" name="Image 0" descr="preencoded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2743200" y="274320"/>
            <a:ext cx="3657600" cy="3657600"/>
          </a:xfrm>
          <a:prstGeom prst="rect">
            <a:avLst/>
          </a:prstGeom>
        </p:spPr>
      </p:pic>
      <p:sp>
        <p:nvSpPr>
          <p:cNvPr id="1461592444" name="Text 0"/>
          <p:cNvSpPr/>
          <p:nvPr/>
        </p:nvSpPr>
        <p:spPr bwMode="auto"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400" b="1" spc="500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ATARAXIA IA LABS</a:t>
            </a:r>
            <a:endParaRPr lang="en-US" sz="3400"/>
          </a:p>
        </p:txBody>
      </p:sp>
      <p:sp>
        <p:nvSpPr>
          <p:cNvPr id="1987854119" name="Text 1"/>
          <p:cNvSpPr/>
          <p:nvPr/>
        </p:nvSpPr>
        <p:spPr bwMode="auto"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i="1">
                <a:solidFill>
                  <a:srgbClr val="A78BFA"/>
                </a:solidFill>
                <a:latin typeface="Georgia"/>
                <a:ea typeface="Georgia"/>
                <a:cs typeface="Georgia"/>
              </a:rPr>
              <a:t>Manual de Marca</a:t>
            </a:r>
            <a:endParaRPr lang="en-US" sz="2000"/>
          </a:p>
        </p:txBody>
      </p:sp>
      <p:sp>
        <p:nvSpPr>
          <p:cNvPr id="1482751085" name="Shape 2"/>
          <p:cNvSpPr/>
          <p:nvPr/>
        </p:nvSpPr>
        <p:spPr bwMode="auto">
          <a:xfrm>
            <a:off x="3200400" y="4754880"/>
            <a:ext cx="27432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203744750" name="Text 3"/>
          <p:cNvSpPr/>
          <p:nvPr/>
        </p:nvSpPr>
        <p:spPr bwMode="auto"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Brand Identity System v1.0 — Febrero 2026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492970" name="Text 0"/>
          <p:cNvSpPr/>
          <p:nvPr/>
        </p:nvSpPr>
        <p:spPr bwMode="auto"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01 — QUIÉNES SOMOS</a:t>
            </a:r>
            <a:endParaRPr lang="en-US" sz="1000"/>
          </a:p>
        </p:txBody>
      </p:sp>
      <p:sp>
        <p:nvSpPr>
          <p:cNvPr id="1161485363" name="Text 1"/>
          <p:cNvSpPr/>
          <p:nvPr/>
        </p:nvSpPr>
        <p:spPr bwMode="auto"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¿Qué es Ataraxia IA Labs?</a:t>
            </a:r>
            <a:endParaRPr lang="en-US" sz="3400"/>
          </a:p>
        </p:txBody>
      </p:sp>
      <p:sp>
        <p:nvSpPr>
          <p:cNvPr id="418010267" name="Text 2"/>
          <p:cNvSpPr/>
          <p:nvPr/>
        </p:nvSpPr>
        <p:spPr bwMode="auto">
          <a:xfrm>
            <a:off x="640080" y="16459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Ataraxia IA Labs construye infraestructura de inteligencia artificial que opera </a:t>
            </a:r>
            <a:r>
              <a:rPr lang="es-E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todo tipo de empresas</a:t>
            </a: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 de forma autónoma.</a:t>
            </a:r>
            <a:endParaRPr lang="en-US" sz="1300"/>
          </a:p>
          <a:p>
            <a:pPr marL="0" indent="0">
              <a:lnSpc>
                <a:spcPct val="160000"/>
              </a:lnSpc>
              <a:buNone/>
              <a:defRPr/>
            </a:pPr>
            <a:endParaRPr lang="en-US" sz="13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Del griego ataraxía: serenidad absoluta. La tranquilidad de saber que tu clínica funciona sola.</a:t>
            </a:r>
            <a:endParaRPr lang="en-US" sz="1300"/>
          </a:p>
          <a:p>
            <a:pPr marL="0" indent="0">
              <a:lnSpc>
                <a:spcPct val="160000"/>
              </a:lnSpc>
              <a:buNone/>
              <a:defRPr/>
            </a:pPr>
            <a:endParaRPr lang="en-US" sz="13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No vendemos un chatbot. Vendemos el sistema operativo que transforma una </a:t>
            </a:r>
            <a:r>
              <a:rPr lang="es-E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empresa</a:t>
            </a: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 tradicional en una operación inteligente.</a:t>
            </a:r>
            <a:endParaRPr lang="en-US" sz="1300"/>
          </a:p>
        </p:txBody>
      </p:sp>
      <p:sp>
        <p:nvSpPr>
          <p:cNvPr id="128465403" name="Shape 3"/>
          <p:cNvSpPr/>
          <p:nvPr/>
        </p:nvSpPr>
        <p:spPr bwMode="auto">
          <a:xfrm>
            <a:off x="5669280" y="1645920"/>
            <a:ext cx="3200400" cy="137160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811404913" name="Text 4"/>
          <p:cNvSpPr/>
          <p:nvPr/>
        </p:nvSpPr>
        <p:spPr bwMode="auto">
          <a:xfrm>
            <a:off x="585216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spc="200">
                <a:solidFill>
                  <a:srgbClr val="F5C842"/>
                </a:solidFill>
                <a:latin typeface="Courier New"/>
                <a:ea typeface="Courier New"/>
                <a:cs typeface="Courier New"/>
              </a:rPr>
              <a:t>PROPÓSITO</a:t>
            </a:r>
            <a:endParaRPr lang="en-US" sz="900"/>
          </a:p>
        </p:txBody>
      </p:sp>
      <p:sp>
        <p:nvSpPr>
          <p:cNvPr id="1185950341" name="Text 5"/>
          <p:cNvSpPr/>
          <p:nvPr/>
        </p:nvSpPr>
        <p:spPr bwMode="auto">
          <a:xfrm>
            <a:off x="5852160" y="2103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Que cada </a:t>
            </a:r>
            <a:r>
              <a:rPr lang="es-E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empresa</a:t>
            </a: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 opere al máximo de su potencial, 24/7, sin depender de humanos para cada tarea.</a:t>
            </a:r>
            <a:endParaRPr lang="en-US" sz="1200"/>
          </a:p>
        </p:txBody>
      </p:sp>
      <p:sp>
        <p:nvSpPr>
          <p:cNvPr id="1410923600" name="Shape 6"/>
          <p:cNvSpPr/>
          <p:nvPr/>
        </p:nvSpPr>
        <p:spPr bwMode="auto">
          <a:xfrm>
            <a:off x="5669280" y="3200400"/>
            <a:ext cx="3200400" cy="137160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6974054" name="Text 7"/>
          <p:cNvSpPr/>
          <p:nvPr/>
        </p:nvSpPr>
        <p:spPr bwMode="auto">
          <a:xfrm>
            <a:off x="585216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spc="200">
                <a:solidFill>
                  <a:srgbClr val="F5C842"/>
                </a:solidFill>
                <a:latin typeface="Courier New"/>
                <a:ea typeface="Courier New"/>
                <a:cs typeface="Courier New"/>
              </a:rPr>
              <a:t>ALCANCE</a:t>
            </a:r>
            <a:endParaRPr lang="en-US" sz="900"/>
          </a:p>
        </p:txBody>
      </p:sp>
      <p:sp>
        <p:nvSpPr>
          <p:cNvPr id="77691491" name="Text 8"/>
          <p:cNvSpPr/>
          <p:nvPr/>
        </p:nvSpPr>
        <p:spPr bwMode="auto">
          <a:xfrm>
            <a:off x="5852160" y="3657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Estas directrices aplican a todas las expresiones visuales y comunicacionales de Ataraxia IA Labs y </a:t>
            </a:r>
            <a:r>
              <a:rPr lang="es-E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nuestros productos</a:t>
            </a: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584192" name="Text 0"/>
          <p:cNvSpPr/>
          <p:nvPr/>
        </p:nvSpPr>
        <p:spPr bwMode="auto"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02 — PERSONALIDAD DE MARCA</a:t>
            </a:r>
            <a:endParaRPr lang="en-US" sz="1000"/>
          </a:p>
        </p:txBody>
      </p:sp>
      <p:sp>
        <p:nvSpPr>
          <p:cNvPr id="839785979" name="Text 1"/>
          <p:cNvSpPr/>
          <p:nvPr/>
        </p:nvSpPr>
        <p:spPr bwMode="auto"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Ataraxia es:</a:t>
            </a:r>
            <a:endParaRPr lang="en-US" sz="3600"/>
          </a:p>
        </p:txBody>
      </p:sp>
      <p:sp>
        <p:nvSpPr>
          <p:cNvPr id="2044139051" name="Shape 2"/>
          <p:cNvSpPr/>
          <p:nvPr/>
        </p:nvSpPr>
        <p:spPr bwMode="auto">
          <a:xfrm>
            <a:off x="640080" y="1600200"/>
            <a:ext cx="365760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03192959" name="Text 3"/>
          <p:cNvSpPr/>
          <p:nvPr/>
        </p:nvSpPr>
        <p:spPr bwMode="auto">
          <a:xfrm>
            <a:off x="822960" y="1600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50507"/>
                </a:solidFill>
                <a:latin typeface="Georgia"/>
                <a:ea typeface="Georgia"/>
                <a:cs typeface="Georgia"/>
              </a:rPr>
              <a:t>VISIONARIA</a:t>
            </a:r>
            <a:endParaRPr lang="en-US" sz="1800"/>
          </a:p>
        </p:txBody>
      </p:sp>
      <p:sp>
        <p:nvSpPr>
          <p:cNvPr id="1207523146" name="Text 4"/>
          <p:cNvSpPr/>
          <p:nvPr/>
        </p:nvSpPr>
        <p:spPr bwMode="auto">
          <a:xfrm>
            <a:off x="4572000" y="16002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V</a:t>
            </a:r>
            <a:r>
              <a:rPr lang="es-E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isualiza</a:t>
            </a: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 el futuro antes que los demás</a:t>
            </a:r>
            <a:endParaRPr lang="en-US" sz="1300"/>
          </a:p>
        </p:txBody>
      </p:sp>
      <p:sp>
        <p:nvSpPr>
          <p:cNvPr id="270825458" name="Shape 5"/>
          <p:cNvSpPr/>
          <p:nvPr/>
        </p:nvSpPr>
        <p:spPr bwMode="auto">
          <a:xfrm>
            <a:off x="640080" y="2377440"/>
            <a:ext cx="365760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19951306" name="Text 6"/>
          <p:cNvSpPr/>
          <p:nvPr/>
        </p:nvSpPr>
        <p:spPr bwMode="auto">
          <a:xfrm>
            <a:off x="82296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50507"/>
                </a:solidFill>
                <a:latin typeface="Georgia"/>
                <a:ea typeface="Georgia"/>
                <a:cs typeface="Georgia"/>
              </a:rPr>
              <a:t>PRECISA</a:t>
            </a:r>
            <a:endParaRPr lang="en-US" sz="1800"/>
          </a:p>
        </p:txBody>
      </p:sp>
      <p:sp>
        <p:nvSpPr>
          <p:cNvPr id="1180160414" name="Text 7"/>
          <p:cNvSpPr/>
          <p:nvPr/>
        </p:nvSpPr>
        <p:spPr bwMode="auto">
          <a:xfrm>
            <a:off x="4572000" y="2377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Cada decisión es </a:t>
            </a:r>
            <a:r>
              <a:rPr lang="es-E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con proposito</a:t>
            </a:r>
            <a:endParaRPr lang="en-US" sz="1300"/>
          </a:p>
        </p:txBody>
      </p:sp>
      <p:sp>
        <p:nvSpPr>
          <p:cNvPr id="76417052" name="Shape 8"/>
          <p:cNvSpPr/>
          <p:nvPr/>
        </p:nvSpPr>
        <p:spPr bwMode="auto">
          <a:xfrm>
            <a:off x="640080" y="3154680"/>
            <a:ext cx="365760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51559893" name="Text 9"/>
          <p:cNvSpPr/>
          <p:nvPr/>
        </p:nvSpPr>
        <p:spPr bwMode="auto">
          <a:xfrm>
            <a:off x="822960" y="3154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50507"/>
                </a:solidFill>
                <a:latin typeface="Georgia"/>
                <a:ea typeface="Georgia"/>
                <a:cs typeface="Georgia"/>
              </a:rPr>
              <a:t>SOFISTICADA</a:t>
            </a:r>
            <a:endParaRPr lang="en-US" sz="1800"/>
          </a:p>
        </p:txBody>
      </p:sp>
      <p:sp>
        <p:nvSpPr>
          <p:cNvPr id="604005219" name="Text 10"/>
          <p:cNvSpPr/>
          <p:nvPr/>
        </p:nvSpPr>
        <p:spPr bwMode="auto">
          <a:xfrm>
            <a:off x="4572000" y="31546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Elegancia sin arrogancia</a:t>
            </a:r>
            <a:endParaRPr lang="en-US" sz="1300"/>
          </a:p>
        </p:txBody>
      </p:sp>
      <p:sp>
        <p:nvSpPr>
          <p:cNvPr id="679427165" name="Shape 11"/>
          <p:cNvSpPr/>
          <p:nvPr/>
        </p:nvSpPr>
        <p:spPr bwMode="auto">
          <a:xfrm>
            <a:off x="640080" y="3931920"/>
            <a:ext cx="365760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39335200" name="Text 12"/>
          <p:cNvSpPr/>
          <p:nvPr/>
        </p:nvSpPr>
        <p:spPr bwMode="auto">
          <a:xfrm>
            <a:off x="822960" y="3931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50507"/>
                </a:solidFill>
                <a:latin typeface="Georgia"/>
                <a:ea typeface="Georgia"/>
                <a:cs typeface="Georgia"/>
              </a:rPr>
              <a:t>IMPARABLE</a:t>
            </a:r>
            <a:endParaRPr lang="en-US" sz="1800"/>
          </a:p>
        </p:txBody>
      </p:sp>
      <p:sp>
        <p:nvSpPr>
          <p:cNvPr id="469850426" name="Text 13"/>
          <p:cNvSpPr/>
          <p:nvPr/>
        </p:nvSpPr>
        <p:spPr bwMode="auto">
          <a:xfrm>
            <a:off x="4572000" y="39319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Evolucion</a:t>
            </a:r>
            <a:r>
              <a:rPr lang="es-E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 constante</a:t>
            </a:r>
            <a:endParaRPr lang="en-US" sz="1300"/>
          </a:p>
        </p:txBody>
      </p:sp>
      <p:sp>
        <p:nvSpPr>
          <p:cNvPr id="1498234642" name="Text 14"/>
          <p:cNvSpPr/>
          <p:nvPr/>
        </p:nvSpPr>
        <p:spPr bwMode="auto">
          <a:xfrm>
            <a:off x="64008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No es una marca complaciente. Tiene postura, visión y carácter.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2136" name="Text 0"/>
          <p:cNvSpPr/>
          <p:nvPr/>
        </p:nvSpPr>
        <p:spPr bwMode="auto"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03 — TONO DE VOZ</a:t>
            </a:r>
            <a:endParaRPr lang="en-US" sz="1000"/>
          </a:p>
        </p:txBody>
      </p:sp>
      <p:sp>
        <p:nvSpPr>
          <p:cNvPr id="1533107990" name="Shape 1"/>
          <p:cNvSpPr/>
          <p:nvPr/>
        </p:nvSpPr>
        <p:spPr bwMode="auto">
          <a:xfrm>
            <a:off x="640080" y="822960"/>
            <a:ext cx="3840480" cy="402336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331329819" name="Text 2"/>
          <p:cNvSpPr/>
          <p:nvPr/>
        </p:nvSpPr>
        <p:spPr bwMode="auto">
          <a:xfrm>
            <a:off x="822960" y="960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spc="2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B2B — PARA CLÍNICAS</a:t>
            </a:r>
            <a:endParaRPr lang="en-US" sz="900"/>
          </a:p>
        </p:txBody>
      </p:sp>
      <p:sp>
        <p:nvSpPr>
          <p:cNvPr id="575859106" name="Text 3"/>
          <p:cNvSpPr/>
          <p:nvPr/>
        </p:nvSpPr>
        <p:spPr bwMode="auto">
          <a:xfrm>
            <a:off x="82296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Visionario premium.</a:t>
            </a:r>
            <a:endParaRPr lang="en-US" sz="2000"/>
          </a:p>
        </p:txBody>
      </p:sp>
      <p:sp>
        <p:nvSpPr>
          <p:cNvPr id="1839881452" name="Text 4"/>
          <p:cNvSpPr/>
          <p:nvPr/>
        </p:nvSpPr>
        <p:spPr bwMode="auto">
          <a:xfrm>
            <a:off x="822960" y="18288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Habla desde el futuro. No pide permiso. Apple, no Samsung.</a:t>
            </a:r>
            <a:endParaRPr lang="en-US" sz="120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12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✓ "El futuro de tu clínica empieza con una decisión."</a:t>
            </a:r>
            <a:endParaRPr lang="en-US" sz="120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12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✕ "¡Prueba nuestro chatbot gratis!"</a:t>
            </a:r>
            <a:endParaRPr lang="en-US" sz="1200"/>
          </a:p>
        </p:txBody>
      </p:sp>
      <p:sp>
        <p:nvSpPr>
          <p:cNvPr id="168681048" name="Shape 5"/>
          <p:cNvSpPr/>
          <p:nvPr/>
        </p:nvSpPr>
        <p:spPr bwMode="auto">
          <a:xfrm>
            <a:off x="4754880" y="822960"/>
            <a:ext cx="3840480" cy="402336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61442243" name="Text 6"/>
          <p:cNvSpPr/>
          <p:nvPr/>
        </p:nvSpPr>
        <p:spPr bwMode="auto">
          <a:xfrm>
            <a:off x="4937760" y="960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spc="200">
                <a:solidFill>
                  <a:srgbClr val="06D6A0"/>
                </a:solidFill>
                <a:latin typeface="Courier New"/>
                <a:ea typeface="Courier New"/>
                <a:cs typeface="Courier New"/>
              </a:rPr>
              <a:t>B2C — SOFIA CON PACIENTES</a:t>
            </a:r>
            <a:endParaRPr lang="en-US" sz="900"/>
          </a:p>
        </p:txBody>
      </p:sp>
      <p:sp>
        <p:nvSpPr>
          <p:cNvPr id="1905410517" name="Text 7"/>
          <p:cNvSpPr/>
          <p:nvPr/>
        </p:nvSpPr>
        <p:spPr bwMode="auto"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Cálida y profesional.</a:t>
            </a:r>
            <a:endParaRPr lang="en-US" sz="2000"/>
          </a:p>
        </p:txBody>
      </p:sp>
      <p:sp>
        <p:nvSpPr>
          <p:cNvPr id="1919537226" name="Text 8"/>
          <p:cNvSpPr/>
          <p:nvPr/>
        </p:nvSpPr>
        <p:spPr bwMode="auto">
          <a:xfrm>
            <a:off x="4937760" y="18288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La mejor coordinadora que un paciente ha tenido.</a:t>
            </a:r>
            <a:endParaRPr lang="en-US" sz="120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12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✓ "Hola María, tu cita es mañana a las 3PM."</a:t>
            </a:r>
            <a:endParaRPr lang="en-US" sz="120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12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✕ "RECORDATORIO: Cita #4521 programada."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93302" name="Text 0"/>
          <p:cNvSpPr/>
          <p:nvPr/>
        </p:nvSpPr>
        <p:spPr bwMode="auto">
          <a:xfrm>
            <a:off x="64008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04 — IDENTIDAD VISUAL</a:t>
            </a:r>
            <a:endParaRPr lang="en-US" sz="1000"/>
          </a:p>
        </p:txBody>
      </p:sp>
      <p:sp>
        <p:nvSpPr>
          <p:cNvPr id="571124150" name="Text 1"/>
          <p:cNvSpPr/>
          <p:nvPr/>
        </p:nvSpPr>
        <p:spPr bwMode="auto">
          <a:xfrm>
            <a:off x="640080" y="640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Logotipo</a:t>
            </a:r>
            <a:endParaRPr lang="en-US" sz="3200"/>
          </a:p>
        </p:txBody>
      </p:sp>
      <p:sp>
        <p:nvSpPr>
          <p:cNvPr id="694394103" name="Text 2"/>
          <p:cNvSpPr/>
          <p:nvPr/>
        </p:nvSpPr>
        <p:spPr bwMode="auto">
          <a:xfrm>
            <a:off x="640080" y="13716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El isotipo de Ataraxia es un ojo dentro de un rombo redondeado. Representa la inteligencia que observa, procesa y actúa.</a:t>
            </a:r>
            <a:endParaRPr lang="en-US" sz="1300"/>
          </a:p>
          <a:p>
            <a:pPr marL="0" indent="0">
              <a:lnSpc>
                <a:spcPct val="160000"/>
              </a:lnSpc>
              <a:buNone/>
              <a:defRPr/>
            </a:pPr>
            <a:endParaRPr lang="en-US" sz="13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Las líneas concéntricas representan capas de datos convergiendo. El rombo sugiere estabilidad. El ojo es la IA que nunca deja de ver.</a:t>
            </a:r>
            <a:endParaRPr lang="en-US" sz="1300"/>
          </a:p>
        </p:txBody>
      </p:sp>
      <p:pic>
        <p:nvPicPr>
          <p:cNvPr id="83357597" name="Image 0" descr="preencoded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5029200" y="457200"/>
            <a:ext cx="3840480" cy="3840480"/>
          </a:xfrm>
          <a:prstGeom prst="rect">
            <a:avLst/>
          </a:prstGeom>
        </p:spPr>
      </p:pic>
      <p:sp>
        <p:nvSpPr>
          <p:cNvPr id="655470089" name="Text 3"/>
          <p:cNvSpPr/>
          <p:nvPr/>
        </p:nvSpPr>
        <p:spPr bwMode="auto">
          <a:xfrm>
            <a:off x="5029200" y="4389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Isotipo principal — Fondo oscuro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215209" name="Text 0"/>
          <p:cNvSpPr/>
          <p:nvPr/>
        </p:nvSpPr>
        <p:spPr bwMode="auto"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04 — IDENTIDAD VISUAL</a:t>
            </a:r>
            <a:endParaRPr lang="en-US" sz="1000"/>
          </a:p>
        </p:txBody>
      </p:sp>
      <p:sp>
        <p:nvSpPr>
          <p:cNvPr id="1820563418" name="Text 1"/>
          <p:cNvSpPr/>
          <p:nvPr/>
        </p:nvSpPr>
        <p:spPr bwMode="auto">
          <a:xfrm>
            <a:off x="64008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Variaciones del Logo</a:t>
            </a:r>
            <a:endParaRPr lang="en-US" sz="2800"/>
          </a:p>
        </p:txBody>
      </p:sp>
      <p:sp>
        <p:nvSpPr>
          <p:cNvPr id="112396075" name="Shape 2"/>
          <p:cNvSpPr/>
          <p:nvPr/>
        </p:nvSpPr>
        <p:spPr bwMode="auto">
          <a:xfrm>
            <a:off x="640080" y="1280160"/>
            <a:ext cx="2468880" cy="2468880"/>
          </a:xfrm>
          <a:prstGeom prst="rect">
            <a:avLst/>
          </a:prstGeom>
          <a:solidFill>
            <a:srgbClr val="050507"/>
          </a:solidFill>
          <a:ln w="6350">
            <a:solidFill>
              <a:srgbClr val="1C1C2A"/>
            </a:solidFill>
            <a:prstDash val="solid"/>
          </a:ln>
        </p:spPr>
      </p:sp>
      <p:pic>
        <p:nvPicPr>
          <p:cNvPr id="1642581796" name="Image 0" descr="preencoded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731520" y="1371600"/>
            <a:ext cx="2286000" cy="2286000"/>
          </a:xfrm>
          <a:prstGeom prst="rect">
            <a:avLst/>
          </a:prstGeom>
        </p:spPr>
      </p:pic>
      <p:sp>
        <p:nvSpPr>
          <p:cNvPr id="951547606" name="Text 3"/>
          <p:cNvSpPr/>
          <p:nvPr/>
        </p:nvSpPr>
        <p:spPr bwMode="auto">
          <a:xfrm>
            <a:off x="640080" y="3794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7E7A8E"/>
                </a:solidFill>
                <a:latin typeface="Courier New"/>
                <a:ea typeface="Courier New"/>
                <a:cs typeface="Courier New"/>
              </a:rPr>
              <a:t>Color / Oscuro</a:t>
            </a:r>
            <a:endParaRPr lang="en-US" sz="900"/>
          </a:p>
        </p:txBody>
      </p:sp>
      <p:sp>
        <p:nvSpPr>
          <p:cNvPr id="1106609878" name="Shape 4"/>
          <p:cNvSpPr/>
          <p:nvPr/>
        </p:nvSpPr>
        <p:spPr bwMode="auto">
          <a:xfrm>
            <a:off x="3337560" y="1280160"/>
            <a:ext cx="24688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1C1C2A"/>
            </a:solidFill>
            <a:prstDash val="solid"/>
          </a:ln>
        </p:spPr>
      </p:sp>
      <p:pic>
        <p:nvPicPr>
          <p:cNvPr id="2085914925" name="Image 1" descr="preencoded.png"/>
          <p:cNvPicPr>
            <a:picLocks noChangeAspect="1"/>
          </p:cNvPicPr>
          <p:nvPr/>
        </p:nvPicPr>
        <p:blipFill rotWithShape="1">
          <a:blip r:embed="rId4"/>
          <a:srcRect l="0" t="0" r="0" b="0"/>
          <a:stretch/>
        </p:blipFill>
        <p:spPr bwMode="auto">
          <a:xfrm>
            <a:off x="3429000" y="1371600"/>
            <a:ext cx="2286000" cy="2286000"/>
          </a:xfrm>
          <a:prstGeom prst="rect">
            <a:avLst/>
          </a:prstGeom>
        </p:spPr>
      </p:pic>
      <p:sp>
        <p:nvSpPr>
          <p:cNvPr id="1274938934" name="Text 5"/>
          <p:cNvSpPr/>
          <p:nvPr/>
        </p:nvSpPr>
        <p:spPr bwMode="auto">
          <a:xfrm>
            <a:off x="3337560" y="3794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7E7A8E"/>
                </a:solidFill>
                <a:latin typeface="Courier New"/>
                <a:ea typeface="Courier New"/>
                <a:cs typeface="Courier New"/>
              </a:rPr>
              <a:t>Color / Claro</a:t>
            </a:r>
            <a:endParaRPr lang="en-US" sz="900"/>
          </a:p>
        </p:txBody>
      </p:sp>
      <p:sp>
        <p:nvSpPr>
          <p:cNvPr id="318223581" name="Shape 6"/>
          <p:cNvSpPr/>
          <p:nvPr/>
        </p:nvSpPr>
        <p:spPr bwMode="auto">
          <a:xfrm>
            <a:off x="6035039" y="1280160"/>
            <a:ext cx="1188720" cy="1188720"/>
          </a:xfrm>
          <a:prstGeom prst="rect">
            <a:avLst/>
          </a:prstGeom>
          <a:solidFill>
            <a:srgbClr val="050507"/>
          </a:solidFill>
          <a:ln w="6350">
            <a:solidFill>
              <a:srgbClr val="1C1C2A"/>
            </a:solidFill>
            <a:prstDash val="solid"/>
          </a:ln>
        </p:spPr>
      </p:sp>
      <p:pic>
        <p:nvPicPr>
          <p:cNvPr id="334064505" name="Image 2" descr="preencoded.png"/>
          <p:cNvPicPr>
            <a:picLocks noChangeAspect="1"/>
          </p:cNvPicPr>
          <p:nvPr/>
        </p:nvPicPr>
        <p:blipFill rotWithShape="1">
          <a:blip r:embed="rId5"/>
          <a:srcRect l="0" t="0" r="0" b="0"/>
          <a:stretch/>
        </p:blipFill>
        <p:spPr bwMode="auto">
          <a:xfrm>
            <a:off x="6080760" y="1325880"/>
            <a:ext cx="1097280" cy="1097280"/>
          </a:xfrm>
          <a:prstGeom prst="rect">
            <a:avLst/>
          </a:prstGeom>
        </p:spPr>
      </p:pic>
      <p:sp>
        <p:nvSpPr>
          <p:cNvPr id="361673897" name="Text 7"/>
          <p:cNvSpPr/>
          <p:nvPr/>
        </p:nvSpPr>
        <p:spPr bwMode="auto">
          <a:xfrm>
            <a:off x="6035039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Mono/Oscuro</a:t>
            </a:r>
            <a:endParaRPr lang="en-US" sz="700"/>
          </a:p>
        </p:txBody>
      </p:sp>
      <p:sp>
        <p:nvSpPr>
          <p:cNvPr id="272488206" name="Shape 8"/>
          <p:cNvSpPr/>
          <p:nvPr/>
        </p:nvSpPr>
        <p:spPr bwMode="auto">
          <a:xfrm>
            <a:off x="7406640" y="1280160"/>
            <a:ext cx="11887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1C1C2A"/>
            </a:solidFill>
            <a:prstDash val="solid"/>
          </a:ln>
        </p:spPr>
      </p:sp>
      <p:pic>
        <p:nvPicPr>
          <p:cNvPr id="784749884" name="Image 3" descr="preencoded.png"/>
          <p:cNvPicPr>
            <a:picLocks noChangeAspect="1"/>
          </p:cNvPicPr>
          <p:nvPr/>
        </p:nvPicPr>
        <p:blipFill rotWithShape="1">
          <a:blip r:embed="rId6"/>
          <a:srcRect l="0" t="0" r="0" b="0"/>
          <a:stretch/>
        </p:blipFill>
        <p:spPr bwMode="auto">
          <a:xfrm>
            <a:off x="7452360" y="1325880"/>
            <a:ext cx="1097280" cy="1097280"/>
          </a:xfrm>
          <a:prstGeom prst="rect">
            <a:avLst/>
          </a:prstGeom>
        </p:spPr>
      </p:pic>
      <p:sp>
        <p:nvSpPr>
          <p:cNvPr id="581534759" name="Text 9"/>
          <p:cNvSpPr/>
          <p:nvPr/>
        </p:nvSpPr>
        <p:spPr bwMode="auto">
          <a:xfrm>
            <a:off x="7406640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Mono/Claro</a:t>
            </a:r>
            <a:endParaRPr lang="en-US" sz="700"/>
          </a:p>
        </p:txBody>
      </p:sp>
      <p:sp>
        <p:nvSpPr>
          <p:cNvPr id="137405660" name="Text 10"/>
          <p:cNvSpPr/>
          <p:nvPr/>
        </p:nvSpPr>
        <p:spPr bwMode="auto">
          <a:xfrm>
            <a:off x="64008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Usar la versión a color como principal. Monocromático solo cuando la reproducción a color no sea posible.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343463" name="Text 0"/>
          <p:cNvSpPr/>
          <p:nvPr/>
        </p:nvSpPr>
        <p:spPr bwMode="auto"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04 — IDENTIDAD VISUAL</a:t>
            </a:r>
            <a:endParaRPr lang="en-US" sz="1000"/>
          </a:p>
        </p:txBody>
      </p:sp>
      <p:sp>
        <p:nvSpPr>
          <p:cNvPr id="1847291565" name="Text 1"/>
          <p:cNvSpPr/>
          <p:nvPr/>
        </p:nvSpPr>
        <p:spPr bwMode="auto">
          <a:xfrm>
            <a:off x="64008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Positivo / Negativo</a:t>
            </a:r>
            <a:endParaRPr lang="en-US" sz="2800"/>
          </a:p>
        </p:txBody>
      </p:sp>
      <p:sp>
        <p:nvSpPr>
          <p:cNvPr id="911050013" name="Shape 2"/>
          <p:cNvSpPr/>
          <p:nvPr/>
        </p:nvSpPr>
        <p:spPr bwMode="auto">
          <a:xfrm>
            <a:off x="640080" y="1280160"/>
            <a:ext cx="3840480" cy="3291840"/>
          </a:xfrm>
          <a:prstGeom prst="rect">
            <a:avLst/>
          </a:prstGeom>
          <a:solidFill>
            <a:srgbClr val="050507"/>
          </a:solidFill>
          <a:ln w="6350">
            <a:solidFill>
              <a:srgbClr val="1C1C2A"/>
            </a:solidFill>
            <a:prstDash val="solid"/>
          </a:ln>
        </p:spPr>
      </p:sp>
      <p:pic>
        <p:nvPicPr>
          <p:cNvPr id="1324350453" name="Image 0" descr="preencoded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1005840" y="1463040"/>
            <a:ext cx="3108960" cy="2926080"/>
          </a:xfrm>
          <a:prstGeom prst="rect">
            <a:avLst/>
          </a:prstGeom>
        </p:spPr>
      </p:pic>
      <p:sp>
        <p:nvSpPr>
          <p:cNvPr id="509356963" name="Text 3"/>
          <p:cNvSpPr/>
          <p:nvPr/>
        </p:nvSpPr>
        <p:spPr bwMode="auto">
          <a:xfrm>
            <a:off x="82296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7E7A8E"/>
                </a:solidFill>
                <a:latin typeface="Courier New"/>
                <a:ea typeface="Courier New"/>
                <a:cs typeface="Courier New"/>
              </a:rPr>
              <a:t>NEGATIVO</a:t>
            </a:r>
            <a:endParaRPr lang="en-US" sz="900"/>
          </a:p>
        </p:txBody>
      </p:sp>
      <p:sp>
        <p:nvSpPr>
          <p:cNvPr id="1909548793" name="Shape 4"/>
          <p:cNvSpPr/>
          <p:nvPr/>
        </p:nvSpPr>
        <p:spPr bwMode="auto">
          <a:xfrm>
            <a:off x="4754880" y="1280160"/>
            <a:ext cx="3840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1C1C2A"/>
            </a:solidFill>
            <a:prstDash val="solid"/>
          </a:ln>
        </p:spPr>
      </p:sp>
      <p:pic>
        <p:nvPicPr>
          <p:cNvPr id="1452939592" name="Image 1" descr="preencoded.png"/>
          <p:cNvPicPr>
            <a:picLocks noChangeAspect="1"/>
          </p:cNvPicPr>
          <p:nvPr/>
        </p:nvPicPr>
        <p:blipFill rotWithShape="1">
          <a:blip r:embed="rId4"/>
          <a:srcRect l="0" t="0" r="0" b="0"/>
          <a:stretch/>
        </p:blipFill>
        <p:spPr bwMode="auto">
          <a:xfrm>
            <a:off x="5120640" y="1463040"/>
            <a:ext cx="3108960" cy="2926080"/>
          </a:xfrm>
          <a:prstGeom prst="rect">
            <a:avLst/>
          </a:prstGeom>
        </p:spPr>
      </p:pic>
      <p:sp>
        <p:nvSpPr>
          <p:cNvPr id="61210098" name="Text 5"/>
          <p:cNvSpPr/>
          <p:nvPr/>
        </p:nvSpPr>
        <p:spPr bwMode="auto">
          <a:xfrm>
            <a:off x="493776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POSITIVO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482482" name="Text 0"/>
          <p:cNvSpPr/>
          <p:nvPr/>
        </p:nvSpPr>
        <p:spPr bwMode="auto">
          <a:xfrm>
            <a:off x="64008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04 — IDENTIDAD VISUAL</a:t>
            </a:r>
            <a:endParaRPr lang="en-US" sz="1000"/>
          </a:p>
        </p:txBody>
      </p:sp>
      <p:sp>
        <p:nvSpPr>
          <p:cNvPr id="293945861" name="Text 1"/>
          <p:cNvSpPr/>
          <p:nvPr/>
        </p:nvSpPr>
        <p:spPr bwMode="auto">
          <a:xfrm>
            <a:off x="640080" y="640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Retícula de Construcción</a:t>
            </a:r>
            <a:endParaRPr lang="en-US" sz="2800"/>
          </a:p>
        </p:txBody>
      </p:sp>
      <p:sp>
        <p:nvSpPr>
          <p:cNvPr id="1795307286" name="Text 2"/>
          <p:cNvSpPr/>
          <p:nvPr/>
        </p:nvSpPr>
        <p:spPr bwMode="auto">
          <a:xfrm>
            <a:off x="640080" y="13716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El isotipo se inscribe en un cuadrado de 8X × 8X, donde X es la unidad base modular.</a:t>
            </a:r>
            <a:endParaRPr lang="en-US" sz="130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13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El ojo central ocupa ~6X de ancho y ~4X de alto. La pupila tiene un radio de ~1X.</a:t>
            </a:r>
            <a:endParaRPr lang="en-US" sz="130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13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3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Todas las proporciones deben mantenerse al escalar.</a:t>
            </a:r>
            <a:endParaRPr lang="en-US" sz="1300"/>
          </a:p>
        </p:txBody>
      </p:sp>
      <p:sp>
        <p:nvSpPr>
          <p:cNvPr id="2060290956" name="Shape 3"/>
          <p:cNvSpPr/>
          <p:nvPr/>
        </p:nvSpPr>
        <p:spPr bwMode="auto">
          <a:xfrm>
            <a:off x="4846320" y="640080"/>
            <a:ext cx="3931920" cy="3931920"/>
          </a:xfrm>
          <a:prstGeom prst="rect">
            <a:avLst/>
          </a:prstGeom>
          <a:solidFill>
            <a:srgbClr val="050507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851330838" name="Shape 4"/>
          <p:cNvSpPr/>
          <p:nvPr/>
        </p:nvSpPr>
        <p:spPr bwMode="auto">
          <a:xfrm>
            <a:off x="4846320" y="640080"/>
            <a:ext cx="0" cy="393192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250526704" name="Shape 5"/>
          <p:cNvSpPr/>
          <p:nvPr/>
        </p:nvSpPr>
        <p:spPr bwMode="auto">
          <a:xfrm>
            <a:off x="4846320" y="640080"/>
            <a:ext cx="3931920" cy="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596739752" name="Shape 6"/>
          <p:cNvSpPr/>
          <p:nvPr/>
        </p:nvSpPr>
        <p:spPr bwMode="auto">
          <a:xfrm>
            <a:off x="5337810" y="640080"/>
            <a:ext cx="0" cy="393192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1975804117" name="Shape 7"/>
          <p:cNvSpPr/>
          <p:nvPr/>
        </p:nvSpPr>
        <p:spPr bwMode="auto">
          <a:xfrm>
            <a:off x="4846320" y="1131570"/>
            <a:ext cx="3931920" cy="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1080888378" name="Shape 8"/>
          <p:cNvSpPr/>
          <p:nvPr/>
        </p:nvSpPr>
        <p:spPr bwMode="auto">
          <a:xfrm>
            <a:off x="5829300" y="640080"/>
            <a:ext cx="0" cy="393192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583448822" name="Shape 9"/>
          <p:cNvSpPr/>
          <p:nvPr/>
        </p:nvSpPr>
        <p:spPr bwMode="auto">
          <a:xfrm>
            <a:off x="4846320" y="1623060"/>
            <a:ext cx="3931920" cy="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572384328" name="Shape 10"/>
          <p:cNvSpPr/>
          <p:nvPr/>
        </p:nvSpPr>
        <p:spPr bwMode="auto">
          <a:xfrm>
            <a:off x="6320789" y="640080"/>
            <a:ext cx="0" cy="393192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438005665" name="Shape 11"/>
          <p:cNvSpPr/>
          <p:nvPr/>
        </p:nvSpPr>
        <p:spPr bwMode="auto">
          <a:xfrm>
            <a:off x="4846320" y="2114550"/>
            <a:ext cx="3931920" cy="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364873917" name="Shape 12"/>
          <p:cNvSpPr/>
          <p:nvPr/>
        </p:nvSpPr>
        <p:spPr bwMode="auto">
          <a:xfrm>
            <a:off x="6812280" y="640080"/>
            <a:ext cx="0" cy="393192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449144519" name="Shape 13"/>
          <p:cNvSpPr/>
          <p:nvPr/>
        </p:nvSpPr>
        <p:spPr bwMode="auto">
          <a:xfrm>
            <a:off x="4846320" y="2606040"/>
            <a:ext cx="3931920" cy="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1222634614" name="Shape 14"/>
          <p:cNvSpPr/>
          <p:nvPr/>
        </p:nvSpPr>
        <p:spPr bwMode="auto">
          <a:xfrm>
            <a:off x="7303770" y="640080"/>
            <a:ext cx="0" cy="393192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1930483614" name="Shape 15"/>
          <p:cNvSpPr/>
          <p:nvPr/>
        </p:nvSpPr>
        <p:spPr bwMode="auto">
          <a:xfrm>
            <a:off x="4846320" y="3097530"/>
            <a:ext cx="3931920" cy="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1218735006" name="Shape 16"/>
          <p:cNvSpPr/>
          <p:nvPr/>
        </p:nvSpPr>
        <p:spPr bwMode="auto">
          <a:xfrm>
            <a:off x="7795260" y="640080"/>
            <a:ext cx="0" cy="393192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1308102809" name="Shape 17"/>
          <p:cNvSpPr/>
          <p:nvPr/>
        </p:nvSpPr>
        <p:spPr bwMode="auto">
          <a:xfrm>
            <a:off x="4846320" y="3589019"/>
            <a:ext cx="3931920" cy="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1826798737" name="Shape 18"/>
          <p:cNvSpPr/>
          <p:nvPr/>
        </p:nvSpPr>
        <p:spPr bwMode="auto">
          <a:xfrm>
            <a:off x="8286750" y="640080"/>
            <a:ext cx="0" cy="393192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786560558" name="Shape 19"/>
          <p:cNvSpPr/>
          <p:nvPr/>
        </p:nvSpPr>
        <p:spPr bwMode="auto">
          <a:xfrm>
            <a:off x="4846320" y="4080510"/>
            <a:ext cx="3931920" cy="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959406033" name="Shape 20"/>
          <p:cNvSpPr/>
          <p:nvPr/>
        </p:nvSpPr>
        <p:spPr bwMode="auto">
          <a:xfrm>
            <a:off x="8778240" y="640080"/>
            <a:ext cx="0" cy="393192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sp>
        <p:nvSpPr>
          <p:cNvPr id="1368757741" name="Shape 21"/>
          <p:cNvSpPr/>
          <p:nvPr/>
        </p:nvSpPr>
        <p:spPr bwMode="auto">
          <a:xfrm>
            <a:off x="4846320" y="4572000"/>
            <a:ext cx="3931920" cy="0"/>
          </a:xfrm>
          <a:prstGeom prst="line">
            <a:avLst/>
          </a:prstGeom>
          <a:noFill/>
          <a:ln w="3810">
            <a:solidFill>
              <a:srgbClr val="4E4A5E"/>
            </a:solidFill>
            <a:prstDash val="solid"/>
          </a:ln>
        </p:spPr>
      </p:sp>
      <p:pic>
        <p:nvPicPr>
          <p:cNvPr id="187543593" name="Image 0" descr="preencoded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4846320" y="640080"/>
            <a:ext cx="3931920" cy="3931920"/>
          </a:xfrm>
          <a:prstGeom prst="rect">
            <a:avLst/>
          </a:prstGeom>
        </p:spPr>
      </p:pic>
      <p:sp>
        <p:nvSpPr>
          <p:cNvPr id="906127491" name="Text 22"/>
          <p:cNvSpPr/>
          <p:nvPr/>
        </p:nvSpPr>
        <p:spPr bwMode="auto">
          <a:xfrm>
            <a:off x="48463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7E7A8E"/>
                </a:solidFill>
                <a:latin typeface="Courier New"/>
                <a:ea typeface="Courier New"/>
                <a:cs typeface="Courier New"/>
              </a:rPr>
              <a:t>1X</a:t>
            </a:r>
            <a:endParaRPr lang="en-US" sz="1000"/>
          </a:p>
        </p:txBody>
      </p:sp>
      <p:sp>
        <p:nvSpPr>
          <p:cNvPr id="549361943" name="Text 23"/>
          <p:cNvSpPr/>
          <p:nvPr/>
        </p:nvSpPr>
        <p:spPr bwMode="auto">
          <a:xfrm>
            <a:off x="6400800" y="4617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7E7A8E"/>
                </a:solidFill>
                <a:latin typeface="Courier New"/>
                <a:ea typeface="Courier New"/>
                <a:cs typeface="Courier New"/>
              </a:rPr>
              <a:t>8X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526199" name="Text 0"/>
          <p:cNvSpPr/>
          <p:nvPr/>
        </p:nvSpPr>
        <p:spPr bwMode="auto"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04 — IDENTIDAD VISUAL</a:t>
            </a:r>
            <a:endParaRPr lang="en-US" sz="1000"/>
          </a:p>
        </p:txBody>
      </p:sp>
      <p:sp>
        <p:nvSpPr>
          <p:cNvPr id="689736708" name="Text 1"/>
          <p:cNvSpPr/>
          <p:nvPr/>
        </p:nvSpPr>
        <p:spPr bwMode="auto">
          <a:xfrm>
            <a:off x="64008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Zona de Seguridad</a:t>
            </a:r>
            <a:endParaRPr lang="en-US" sz="2800"/>
          </a:p>
        </p:txBody>
      </p:sp>
      <p:sp>
        <p:nvSpPr>
          <p:cNvPr id="1240242218" name="Shape 2"/>
          <p:cNvSpPr/>
          <p:nvPr/>
        </p:nvSpPr>
        <p:spPr bwMode="auto">
          <a:xfrm>
            <a:off x="1828800" y="1188720"/>
            <a:ext cx="5486400" cy="3657600"/>
          </a:xfrm>
          <a:prstGeom prst="rect">
            <a:avLst/>
          </a:prstGeom>
          <a:solidFill>
            <a:srgbClr val="050507"/>
          </a:solidFill>
          <a:ln w="12700">
            <a:solidFill>
              <a:srgbClr val="8B5CF6"/>
            </a:solidFill>
            <a:prstDash val="dash"/>
          </a:ln>
        </p:spPr>
      </p:sp>
      <p:sp>
        <p:nvSpPr>
          <p:cNvPr id="1293694830" name="Shape 3"/>
          <p:cNvSpPr/>
          <p:nvPr/>
        </p:nvSpPr>
        <p:spPr bwMode="auto">
          <a:xfrm>
            <a:off x="2560320" y="1645920"/>
            <a:ext cx="4023360" cy="2743200"/>
          </a:xfrm>
          <a:prstGeom prst="rect">
            <a:avLst/>
          </a:prstGeom>
          <a:solidFill>
            <a:srgbClr val="050507"/>
          </a:solidFill>
          <a:ln w="6350">
            <a:solidFill>
              <a:srgbClr val="1C1C2A"/>
            </a:solidFill>
            <a:prstDash val="solid"/>
          </a:ln>
        </p:spPr>
      </p:sp>
      <p:pic>
        <p:nvPicPr>
          <p:cNvPr id="76677315" name="Image 0" descr="preencoded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 flipH="0" flipV="0">
            <a:off x="2560320" y="1645919"/>
            <a:ext cx="4023360" cy="2743200"/>
          </a:xfrm>
          <a:prstGeom prst="rect">
            <a:avLst/>
          </a:prstGeom>
        </p:spPr>
      </p:pic>
      <p:sp>
        <p:nvSpPr>
          <p:cNvPr id="456024881" name="Text 4"/>
          <p:cNvSpPr/>
          <p:nvPr/>
        </p:nvSpPr>
        <p:spPr bwMode="auto">
          <a:xfrm>
            <a:off x="192024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2X</a:t>
            </a:r>
            <a:endParaRPr lang="en-US" sz="1100"/>
          </a:p>
        </p:txBody>
      </p:sp>
      <p:sp>
        <p:nvSpPr>
          <p:cNvPr id="1444001153" name="Text 5"/>
          <p:cNvSpPr/>
          <p:nvPr/>
        </p:nvSpPr>
        <p:spPr bwMode="auto">
          <a:xfrm>
            <a:off x="6858000" y="2834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2X</a:t>
            </a:r>
            <a:endParaRPr lang="en-US" sz="1100"/>
          </a:p>
        </p:txBody>
      </p:sp>
      <p:sp>
        <p:nvSpPr>
          <p:cNvPr id="760253612" name="Text 6"/>
          <p:cNvSpPr/>
          <p:nvPr/>
        </p:nvSpPr>
        <p:spPr bwMode="auto"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La zona de seguridad mínima es 2X. Ningún elemento externo debe invadir esta zona.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306590" name="Text 0"/>
          <p:cNvSpPr/>
          <p:nvPr/>
        </p:nvSpPr>
        <p:spPr bwMode="auto"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04 — IDENTIDAD VISUAL</a:t>
            </a:r>
            <a:endParaRPr lang="en-US" sz="1000"/>
          </a:p>
        </p:txBody>
      </p:sp>
      <p:sp>
        <p:nvSpPr>
          <p:cNvPr id="613845028" name="Text 1"/>
          <p:cNvSpPr/>
          <p:nvPr/>
        </p:nvSpPr>
        <p:spPr bwMode="auto">
          <a:xfrm>
            <a:off x="64008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Usos Incorrectos</a:t>
            </a:r>
            <a:endParaRPr lang="en-US" sz="2800"/>
          </a:p>
        </p:txBody>
      </p:sp>
      <p:sp>
        <p:nvSpPr>
          <p:cNvPr id="1699166566" name="Shape 2"/>
          <p:cNvSpPr/>
          <p:nvPr/>
        </p:nvSpPr>
        <p:spPr bwMode="auto">
          <a:xfrm>
            <a:off x="640080" y="1280160"/>
            <a:ext cx="2560320" cy="1554480"/>
          </a:xfrm>
          <a:prstGeom prst="rect">
            <a:avLst/>
          </a:prstGeom>
          <a:solidFill>
            <a:srgbClr val="101018"/>
          </a:solidFill>
          <a:ln w="6350">
            <a:solidFill>
              <a:srgbClr val="2A1515"/>
            </a:solidFill>
            <a:prstDash val="solid"/>
          </a:ln>
        </p:spPr>
      </p:sp>
      <p:sp>
        <p:nvSpPr>
          <p:cNvPr id="1849355456" name="Text 3"/>
          <p:cNvSpPr/>
          <p:nvPr/>
        </p:nvSpPr>
        <p:spPr bwMode="auto">
          <a:xfrm>
            <a:off x="77724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FF4444"/>
                </a:solidFill>
                <a:latin typeface="Arial"/>
                <a:ea typeface="Arial"/>
                <a:cs typeface="Arial"/>
              </a:rPr>
              <a:t>✕</a:t>
            </a:r>
            <a:endParaRPr lang="en-US" sz="1800"/>
          </a:p>
        </p:txBody>
      </p:sp>
      <p:sp>
        <p:nvSpPr>
          <p:cNvPr id="344658073" name="Text 4"/>
          <p:cNvSpPr/>
          <p:nvPr/>
        </p:nvSpPr>
        <p:spPr bwMode="auto">
          <a:xfrm>
            <a:off x="77724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No distorsionar</a:t>
            </a:r>
            <a:endParaRPr lang="en-US" sz="1400"/>
          </a:p>
        </p:txBody>
      </p:sp>
      <p:sp>
        <p:nvSpPr>
          <p:cNvPr id="324215807" name="Text 5"/>
          <p:cNvSpPr/>
          <p:nvPr/>
        </p:nvSpPr>
        <p:spPr bwMode="auto">
          <a:xfrm>
            <a:off x="77724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Mantener proporciones originales</a:t>
            </a:r>
            <a:endParaRPr lang="en-US" sz="1100"/>
          </a:p>
        </p:txBody>
      </p:sp>
      <p:sp>
        <p:nvSpPr>
          <p:cNvPr id="1982305939" name="Shape 6"/>
          <p:cNvSpPr/>
          <p:nvPr/>
        </p:nvSpPr>
        <p:spPr bwMode="auto">
          <a:xfrm>
            <a:off x="3474720" y="1280160"/>
            <a:ext cx="2560320" cy="1554480"/>
          </a:xfrm>
          <a:prstGeom prst="rect">
            <a:avLst/>
          </a:prstGeom>
          <a:solidFill>
            <a:srgbClr val="101018"/>
          </a:solidFill>
          <a:ln w="6350">
            <a:solidFill>
              <a:srgbClr val="2A1515"/>
            </a:solidFill>
            <a:prstDash val="solid"/>
          </a:ln>
        </p:spPr>
      </p:sp>
      <p:sp>
        <p:nvSpPr>
          <p:cNvPr id="1999032832" name="Text 7"/>
          <p:cNvSpPr/>
          <p:nvPr/>
        </p:nvSpPr>
        <p:spPr bwMode="auto">
          <a:xfrm>
            <a:off x="36118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FF4444"/>
                </a:solidFill>
                <a:latin typeface="Arial"/>
                <a:ea typeface="Arial"/>
                <a:cs typeface="Arial"/>
              </a:rPr>
              <a:t>✕</a:t>
            </a:r>
            <a:endParaRPr lang="en-US" sz="1800"/>
          </a:p>
        </p:txBody>
      </p:sp>
      <p:sp>
        <p:nvSpPr>
          <p:cNvPr id="1426585592" name="Text 8"/>
          <p:cNvSpPr/>
          <p:nvPr/>
        </p:nvSpPr>
        <p:spPr bwMode="auto">
          <a:xfrm>
            <a:off x="361188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No cambiar colores</a:t>
            </a:r>
            <a:endParaRPr lang="en-US" sz="1400"/>
          </a:p>
        </p:txBody>
      </p:sp>
      <p:sp>
        <p:nvSpPr>
          <p:cNvPr id="388082759" name="Text 9"/>
          <p:cNvSpPr/>
          <p:nvPr/>
        </p:nvSpPr>
        <p:spPr bwMode="auto">
          <a:xfrm>
            <a:off x="361188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Solo versiones aprobadas</a:t>
            </a:r>
            <a:endParaRPr lang="en-US" sz="1100"/>
          </a:p>
        </p:txBody>
      </p:sp>
      <p:sp>
        <p:nvSpPr>
          <p:cNvPr id="569998876" name="Shape 10"/>
          <p:cNvSpPr/>
          <p:nvPr/>
        </p:nvSpPr>
        <p:spPr bwMode="auto">
          <a:xfrm>
            <a:off x="6309360" y="1280160"/>
            <a:ext cx="2560320" cy="1554480"/>
          </a:xfrm>
          <a:prstGeom prst="rect">
            <a:avLst/>
          </a:prstGeom>
          <a:solidFill>
            <a:srgbClr val="101018"/>
          </a:solidFill>
          <a:ln w="6350">
            <a:solidFill>
              <a:srgbClr val="2A1515"/>
            </a:solidFill>
            <a:prstDash val="solid"/>
          </a:ln>
        </p:spPr>
      </p:sp>
      <p:sp>
        <p:nvSpPr>
          <p:cNvPr id="334417591" name="Text 11"/>
          <p:cNvSpPr/>
          <p:nvPr/>
        </p:nvSpPr>
        <p:spPr bwMode="auto">
          <a:xfrm>
            <a:off x="644652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FF4444"/>
                </a:solidFill>
                <a:latin typeface="Arial"/>
                <a:ea typeface="Arial"/>
                <a:cs typeface="Arial"/>
              </a:rPr>
              <a:t>✕</a:t>
            </a:r>
            <a:endParaRPr lang="en-US" sz="1800"/>
          </a:p>
        </p:txBody>
      </p:sp>
      <p:sp>
        <p:nvSpPr>
          <p:cNvPr id="2048743915" name="Text 12"/>
          <p:cNvSpPr/>
          <p:nvPr/>
        </p:nvSpPr>
        <p:spPr bwMode="auto">
          <a:xfrm>
            <a:off x="64465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No rotar</a:t>
            </a:r>
            <a:endParaRPr lang="en-US" sz="1400"/>
          </a:p>
        </p:txBody>
      </p:sp>
      <p:sp>
        <p:nvSpPr>
          <p:cNvPr id="214118866" name="Text 13"/>
          <p:cNvSpPr/>
          <p:nvPr/>
        </p:nvSpPr>
        <p:spPr bwMode="auto">
          <a:xfrm>
            <a:off x="64465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Siempre orientación original</a:t>
            </a:r>
            <a:endParaRPr lang="en-US" sz="1100"/>
          </a:p>
        </p:txBody>
      </p:sp>
      <p:sp>
        <p:nvSpPr>
          <p:cNvPr id="1957911004" name="Shape 14"/>
          <p:cNvSpPr/>
          <p:nvPr/>
        </p:nvSpPr>
        <p:spPr bwMode="auto">
          <a:xfrm>
            <a:off x="640080" y="3108960"/>
            <a:ext cx="2560320" cy="1554480"/>
          </a:xfrm>
          <a:prstGeom prst="rect">
            <a:avLst/>
          </a:prstGeom>
          <a:solidFill>
            <a:srgbClr val="101018"/>
          </a:solidFill>
          <a:ln w="6350">
            <a:solidFill>
              <a:srgbClr val="2A1515"/>
            </a:solidFill>
            <a:prstDash val="solid"/>
          </a:ln>
        </p:spPr>
      </p:sp>
      <p:sp>
        <p:nvSpPr>
          <p:cNvPr id="1974107060" name="Text 15"/>
          <p:cNvSpPr/>
          <p:nvPr/>
        </p:nvSpPr>
        <p:spPr bwMode="auto">
          <a:xfrm>
            <a:off x="77724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FF4444"/>
                </a:solidFill>
                <a:latin typeface="Arial"/>
                <a:ea typeface="Arial"/>
                <a:cs typeface="Arial"/>
              </a:rPr>
              <a:t>✕</a:t>
            </a:r>
            <a:endParaRPr lang="en-US" sz="1800"/>
          </a:p>
        </p:txBody>
      </p:sp>
      <p:sp>
        <p:nvSpPr>
          <p:cNvPr id="120050995" name="Text 16"/>
          <p:cNvSpPr/>
          <p:nvPr/>
        </p:nvSpPr>
        <p:spPr bwMode="auto">
          <a:xfrm>
            <a:off x="77724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No agregar efectos</a:t>
            </a:r>
            <a:endParaRPr lang="en-US" sz="1400"/>
          </a:p>
        </p:txBody>
      </p:sp>
      <p:sp>
        <p:nvSpPr>
          <p:cNvPr id="399880749" name="Text 17"/>
          <p:cNvSpPr/>
          <p:nvPr/>
        </p:nvSpPr>
        <p:spPr bwMode="auto">
          <a:xfrm>
            <a:off x="77724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Sin sombras, brillos o 3D</a:t>
            </a:r>
            <a:endParaRPr lang="en-US" sz="1100"/>
          </a:p>
        </p:txBody>
      </p:sp>
      <p:sp>
        <p:nvSpPr>
          <p:cNvPr id="655018479" name="Shape 18"/>
          <p:cNvSpPr/>
          <p:nvPr/>
        </p:nvSpPr>
        <p:spPr bwMode="auto">
          <a:xfrm>
            <a:off x="3474720" y="3108960"/>
            <a:ext cx="2560320" cy="1554480"/>
          </a:xfrm>
          <a:prstGeom prst="rect">
            <a:avLst/>
          </a:prstGeom>
          <a:solidFill>
            <a:srgbClr val="101018"/>
          </a:solidFill>
          <a:ln w="6350">
            <a:solidFill>
              <a:srgbClr val="2A1515"/>
            </a:solidFill>
            <a:prstDash val="solid"/>
          </a:ln>
        </p:spPr>
      </p:sp>
      <p:sp>
        <p:nvSpPr>
          <p:cNvPr id="1902950465" name="Text 19"/>
          <p:cNvSpPr/>
          <p:nvPr/>
        </p:nvSpPr>
        <p:spPr bwMode="auto">
          <a:xfrm>
            <a:off x="361188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FF4444"/>
                </a:solidFill>
                <a:latin typeface="Arial"/>
                <a:ea typeface="Arial"/>
                <a:cs typeface="Arial"/>
              </a:rPr>
              <a:t>✕</a:t>
            </a:r>
            <a:endParaRPr lang="en-US" sz="1800"/>
          </a:p>
        </p:txBody>
      </p:sp>
      <p:sp>
        <p:nvSpPr>
          <p:cNvPr id="805038850" name="Text 20"/>
          <p:cNvSpPr/>
          <p:nvPr/>
        </p:nvSpPr>
        <p:spPr bwMode="auto">
          <a:xfrm>
            <a:off x="361188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No fondos ruidosos</a:t>
            </a:r>
            <a:endParaRPr lang="en-US" sz="1400"/>
          </a:p>
        </p:txBody>
      </p:sp>
      <p:sp>
        <p:nvSpPr>
          <p:cNvPr id="1422235585" name="Text 21"/>
          <p:cNvSpPr/>
          <p:nvPr/>
        </p:nvSpPr>
        <p:spPr bwMode="auto">
          <a:xfrm>
            <a:off x="361188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Solo fondos sólidos con contraste</a:t>
            </a:r>
            <a:endParaRPr lang="en-US" sz="1100"/>
          </a:p>
        </p:txBody>
      </p:sp>
      <p:sp>
        <p:nvSpPr>
          <p:cNvPr id="1798526269" name="Shape 22"/>
          <p:cNvSpPr/>
          <p:nvPr/>
        </p:nvSpPr>
        <p:spPr bwMode="auto">
          <a:xfrm>
            <a:off x="6309360" y="3108960"/>
            <a:ext cx="2560320" cy="1554480"/>
          </a:xfrm>
          <a:prstGeom prst="rect">
            <a:avLst/>
          </a:prstGeom>
          <a:solidFill>
            <a:srgbClr val="101018"/>
          </a:solidFill>
          <a:ln w="6350">
            <a:solidFill>
              <a:srgbClr val="2A1515"/>
            </a:solidFill>
            <a:prstDash val="solid"/>
          </a:ln>
        </p:spPr>
      </p:sp>
      <p:sp>
        <p:nvSpPr>
          <p:cNvPr id="1166961859" name="Text 23"/>
          <p:cNvSpPr/>
          <p:nvPr/>
        </p:nvSpPr>
        <p:spPr bwMode="auto">
          <a:xfrm>
            <a:off x="644652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FF4444"/>
                </a:solidFill>
                <a:latin typeface="Arial"/>
                <a:ea typeface="Arial"/>
                <a:cs typeface="Arial"/>
              </a:rPr>
              <a:t>✕</a:t>
            </a:r>
            <a:endParaRPr lang="en-US" sz="1800"/>
          </a:p>
        </p:txBody>
      </p:sp>
      <p:sp>
        <p:nvSpPr>
          <p:cNvPr id="959001286" name="Text 24"/>
          <p:cNvSpPr/>
          <p:nvPr/>
        </p:nvSpPr>
        <p:spPr bwMode="auto">
          <a:xfrm>
            <a:off x="644652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No recortar</a:t>
            </a:r>
            <a:endParaRPr lang="en-US" sz="1400"/>
          </a:p>
        </p:txBody>
      </p:sp>
      <p:sp>
        <p:nvSpPr>
          <p:cNvPr id="1211437759" name="Text 25"/>
          <p:cNvSpPr/>
          <p:nvPr/>
        </p:nvSpPr>
        <p:spPr bwMode="auto">
          <a:xfrm>
            <a:off x="644652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Isotipo completo siempre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658788" name="Text 0"/>
          <p:cNvSpPr/>
          <p:nvPr/>
        </p:nvSpPr>
        <p:spPr bwMode="auto"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05 — PALETA DE COLORES</a:t>
            </a:r>
            <a:endParaRPr lang="en-US" sz="1000"/>
          </a:p>
        </p:txBody>
      </p:sp>
      <p:sp>
        <p:nvSpPr>
          <p:cNvPr id="1600292598" name="Text 1"/>
          <p:cNvSpPr/>
          <p:nvPr/>
        </p:nvSpPr>
        <p:spPr bwMode="auto">
          <a:xfrm>
            <a:off x="64008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Sistema de Color</a:t>
            </a:r>
            <a:endParaRPr lang="en-US" sz="3200"/>
          </a:p>
        </p:txBody>
      </p:sp>
      <p:sp>
        <p:nvSpPr>
          <p:cNvPr id="1318446113" name="Shape 2"/>
          <p:cNvSpPr/>
          <p:nvPr/>
        </p:nvSpPr>
        <p:spPr bwMode="auto">
          <a:xfrm>
            <a:off x="640080" y="1371600"/>
            <a:ext cx="1920240" cy="457200"/>
          </a:xfrm>
          <a:prstGeom prst="rect">
            <a:avLst/>
          </a:prstGeom>
          <a:solidFill>
            <a:srgbClr val="8B5CF6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937532587" name="Text 3"/>
          <p:cNvSpPr/>
          <p:nvPr/>
        </p:nvSpPr>
        <p:spPr bwMode="auto">
          <a:xfrm>
            <a:off x="64008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Ataraxia Purple</a:t>
            </a:r>
            <a:endParaRPr lang="en-US" sz="1000"/>
          </a:p>
        </p:txBody>
      </p:sp>
      <p:sp>
        <p:nvSpPr>
          <p:cNvPr id="1934750334" name="Text 4"/>
          <p:cNvSpPr/>
          <p:nvPr/>
        </p:nvSpPr>
        <p:spPr bwMode="auto">
          <a:xfrm>
            <a:off x="640080" y="20848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#8B5CF6</a:t>
            </a:r>
            <a:endParaRPr lang="en-US" sz="900"/>
          </a:p>
        </p:txBody>
      </p:sp>
      <p:sp>
        <p:nvSpPr>
          <p:cNvPr id="243752871" name="Text 5"/>
          <p:cNvSpPr/>
          <p:nvPr/>
        </p:nvSpPr>
        <p:spPr bwMode="auto">
          <a:xfrm>
            <a:off x="640080" y="22402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Acento primario, CTAs</a:t>
            </a:r>
            <a:endParaRPr lang="en-US" sz="800"/>
          </a:p>
        </p:txBody>
      </p:sp>
      <p:sp>
        <p:nvSpPr>
          <p:cNvPr id="1314758669" name="Shape 6"/>
          <p:cNvSpPr/>
          <p:nvPr/>
        </p:nvSpPr>
        <p:spPr bwMode="auto">
          <a:xfrm>
            <a:off x="2788920" y="1371600"/>
            <a:ext cx="1920240" cy="457200"/>
          </a:xfrm>
          <a:prstGeom prst="rect">
            <a:avLst/>
          </a:prstGeom>
          <a:solidFill>
            <a:srgbClr val="A78BFA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74247634" name="Text 7"/>
          <p:cNvSpPr/>
          <p:nvPr/>
        </p:nvSpPr>
        <p:spPr bwMode="auto">
          <a:xfrm>
            <a:off x="278892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Purple Bright</a:t>
            </a:r>
            <a:endParaRPr lang="en-US" sz="1000"/>
          </a:p>
        </p:txBody>
      </p:sp>
      <p:sp>
        <p:nvSpPr>
          <p:cNvPr id="959603022" name="Text 8"/>
          <p:cNvSpPr/>
          <p:nvPr/>
        </p:nvSpPr>
        <p:spPr bwMode="auto">
          <a:xfrm>
            <a:off x="2788920" y="20848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#A78BFA</a:t>
            </a:r>
            <a:endParaRPr lang="en-US" sz="900"/>
          </a:p>
        </p:txBody>
      </p:sp>
      <p:sp>
        <p:nvSpPr>
          <p:cNvPr id="771781517" name="Text 9"/>
          <p:cNvSpPr/>
          <p:nvPr/>
        </p:nvSpPr>
        <p:spPr bwMode="auto">
          <a:xfrm>
            <a:off x="2788920" y="22402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Hover, texto acento</a:t>
            </a:r>
            <a:endParaRPr lang="en-US" sz="800"/>
          </a:p>
        </p:txBody>
      </p:sp>
      <p:sp>
        <p:nvSpPr>
          <p:cNvPr id="1798161411" name="Shape 10"/>
          <p:cNvSpPr/>
          <p:nvPr/>
        </p:nvSpPr>
        <p:spPr bwMode="auto">
          <a:xfrm>
            <a:off x="4937760" y="1371600"/>
            <a:ext cx="1920240" cy="457200"/>
          </a:xfrm>
          <a:prstGeom prst="rect">
            <a:avLst/>
          </a:prstGeom>
          <a:solidFill>
            <a:srgbClr val="6D28D9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859889173" name="Text 11"/>
          <p:cNvSpPr/>
          <p:nvPr/>
        </p:nvSpPr>
        <p:spPr bwMode="auto">
          <a:xfrm>
            <a:off x="493776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Purple Deep</a:t>
            </a:r>
            <a:endParaRPr lang="en-US" sz="1000"/>
          </a:p>
        </p:txBody>
      </p:sp>
      <p:sp>
        <p:nvSpPr>
          <p:cNvPr id="275374664" name="Text 12"/>
          <p:cNvSpPr/>
          <p:nvPr/>
        </p:nvSpPr>
        <p:spPr bwMode="auto">
          <a:xfrm>
            <a:off x="4937760" y="20848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#6D28D9</a:t>
            </a:r>
            <a:endParaRPr lang="en-US" sz="900"/>
          </a:p>
        </p:txBody>
      </p:sp>
      <p:sp>
        <p:nvSpPr>
          <p:cNvPr id="209578788" name="Text 13"/>
          <p:cNvSpPr/>
          <p:nvPr/>
        </p:nvSpPr>
        <p:spPr bwMode="auto">
          <a:xfrm>
            <a:off x="4937760" y="22402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Headlines</a:t>
            </a:r>
            <a:endParaRPr lang="en-US" sz="800"/>
          </a:p>
        </p:txBody>
      </p:sp>
      <p:sp>
        <p:nvSpPr>
          <p:cNvPr id="1930001372" name="Shape 14"/>
          <p:cNvSpPr/>
          <p:nvPr/>
        </p:nvSpPr>
        <p:spPr bwMode="auto">
          <a:xfrm>
            <a:off x="7086600" y="1371600"/>
            <a:ext cx="1920240" cy="457200"/>
          </a:xfrm>
          <a:prstGeom prst="rect">
            <a:avLst/>
          </a:prstGeom>
          <a:solidFill>
            <a:srgbClr val="06D6A0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989530421" name="Text 15"/>
          <p:cNvSpPr/>
          <p:nvPr/>
        </p:nvSpPr>
        <p:spPr bwMode="auto">
          <a:xfrm>
            <a:off x="708660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Ataraxia Cyan</a:t>
            </a:r>
            <a:endParaRPr lang="en-US" sz="1000"/>
          </a:p>
        </p:txBody>
      </p:sp>
      <p:sp>
        <p:nvSpPr>
          <p:cNvPr id="778611309" name="Text 16"/>
          <p:cNvSpPr/>
          <p:nvPr/>
        </p:nvSpPr>
        <p:spPr bwMode="auto">
          <a:xfrm>
            <a:off x="7086600" y="20848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#06D6A0</a:t>
            </a:r>
            <a:endParaRPr lang="en-US" sz="900"/>
          </a:p>
        </p:txBody>
      </p:sp>
      <p:sp>
        <p:nvSpPr>
          <p:cNvPr id="6084558" name="Text 17"/>
          <p:cNvSpPr/>
          <p:nvPr/>
        </p:nvSpPr>
        <p:spPr bwMode="auto">
          <a:xfrm>
            <a:off x="7086600" y="22402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Secundario, activos</a:t>
            </a:r>
            <a:endParaRPr lang="en-US" sz="800"/>
          </a:p>
        </p:txBody>
      </p:sp>
      <p:sp>
        <p:nvSpPr>
          <p:cNvPr id="835384610" name="Shape 18"/>
          <p:cNvSpPr/>
          <p:nvPr/>
        </p:nvSpPr>
        <p:spPr bwMode="auto">
          <a:xfrm>
            <a:off x="640080" y="2560320"/>
            <a:ext cx="1920240" cy="457200"/>
          </a:xfrm>
          <a:prstGeom prst="rect">
            <a:avLst/>
          </a:prstGeom>
          <a:solidFill>
            <a:srgbClr val="34D399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970000807" name="Text 19"/>
          <p:cNvSpPr/>
          <p:nvPr/>
        </p:nvSpPr>
        <p:spPr bwMode="auto">
          <a:xfrm>
            <a:off x="640080" y="3063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Cyan Bright</a:t>
            </a:r>
            <a:endParaRPr lang="en-US" sz="1000"/>
          </a:p>
        </p:txBody>
      </p:sp>
      <p:sp>
        <p:nvSpPr>
          <p:cNvPr id="1573280517" name="Text 20"/>
          <p:cNvSpPr/>
          <p:nvPr/>
        </p:nvSpPr>
        <p:spPr bwMode="auto">
          <a:xfrm>
            <a:off x="640080" y="32735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#34D399</a:t>
            </a:r>
            <a:endParaRPr lang="en-US" sz="900"/>
          </a:p>
        </p:txBody>
      </p:sp>
      <p:sp>
        <p:nvSpPr>
          <p:cNvPr id="794658514" name="Text 21"/>
          <p:cNvSpPr/>
          <p:nvPr/>
        </p:nvSpPr>
        <p:spPr bwMode="auto">
          <a:xfrm>
            <a:off x="640080" y="34290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Success</a:t>
            </a:r>
            <a:endParaRPr lang="en-US" sz="800"/>
          </a:p>
        </p:txBody>
      </p:sp>
      <p:sp>
        <p:nvSpPr>
          <p:cNvPr id="1003049345" name="Shape 22"/>
          <p:cNvSpPr/>
          <p:nvPr/>
        </p:nvSpPr>
        <p:spPr bwMode="auto">
          <a:xfrm>
            <a:off x="2788920" y="2560320"/>
            <a:ext cx="1920240" cy="457200"/>
          </a:xfrm>
          <a:prstGeom prst="rect">
            <a:avLst/>
          </a:prstGeom>
          <a:solidFill>
            <a:srgbClr val="F5C842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376169954" name="Text 23"/>
          <p:cNvSpPr/>
          <p:nvPr/>
        </p:nvSpPr>
        <p:spPr bwMode="auto">
          <a:xfrm>
            <a:off x="2788920" y="3063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Signal Gold</a:t>
            </a:r>
            <a:endParaRPr lang="en-US" sz="1000"/>
          </a:p>
        </p:txBody>
      </p:sp>
      <p:sp>
        <p:nvSpPr>
          <p:cNvPr id="747317826" name="Text 24"/>
          <p:cNvSpPr/>
          <p:nvPr/>
        </p:nvSpPr>
        <p:spPr bwMode="auto">
          <a:xfrm>
            <a:off x="2788920" y="32735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#F5C842</a:t>
            </a:r>
            <a:endParaRPr lang="en-US" sz="900"/>
          </a:p>
        </p:txBody>
      </p:sp>
      <p:sp>
        <p:nvSpPr>
          <p:cNvPr id="1517779273" name="Text 25"/>
          <p:cNvSpPr/>
          <p:nvPr/>
        </p:nvSpPr>
        <p:spPr bwMode="auto">
          <a:xfrm>
            <a:off x="2788920" y="34290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Premium, alertas</a:t>
            </a:r>
            <a:endParaRPr lang="en-US" sz="800"/>
          </a:p>
        </p:txBody>
      </p:sp>
      <p:sp>
        <p:nvSpPr>
          <p:cNvPr id="1587595738" name="Shape 26"/>
          <p:cNvSpPr/>
          <p:nvPr/>
        </p:nvSpPr>
        <p:spPr bwMode="auto">
          <a:xfrm>
            <a:off x="4937760" y="2560320"/>
            <a:ext cx="1920240" cy="457200"/>
          </a:xfrm>
          <a:prstGeom prst="rect">
            <a:avLst/>
          </a:prstGeom>
          <a:solidFill>
            <a:srgbClr val="050507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490999927" name="Text 27"/>
          <p:cNvSpPr/>
          <p:nvPr/>
        </p:nvSpPr>
        <p:spPr bwMode="auto">
          <a:xfrm>
            <a:off x="4937760" y="3063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Void Black</a:t>
            </a:r>
            <a:endParaRPr lang="en-US" sz="1000"/>
          </a:p>
        </p:txBody>
      </p:sp>
      <p:sp>
        <p:nvSpPr>
          <p:cNvPr id="49872003" name="Text 28"/>
          <p:cNvSpPr/>
          <p:nvPr/>
        </p:nvSpPr>
        <p:spPr bwMode="auto">
          <a:xfrm>
            <a:off x="4937760" y="32735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#050507</a:t>
            </a:r>
            <a:endParaRPr lang="en-US" sz="900"/>
          </a:p>
        </p:txBody>
      </p:sp>
      <p:sp>
        <p:nvSpPr>
          <p:cNvPr id="754845816" name="Text 29"/>
          <p:cNvSpPr/>
          <p:nvPr/>
        </p:nvSpPr>
        <p:spPr bwMode="auto">
          <a:xfrm>
            <a:off x="4937760" y="34290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Fondo principal</a:t>
            </a:r>
            <a:endParaRPr lang="en-US" sz="800"/>
          </a:p>
        </p:txBody>
      </p:sp>
      <p:sp>
        <p:nvSpPr>
          <p:cNvPr id="1484115264" name="Shape 30"/>
          <p:cNvSpPr/>
          <p:nvPr/>
        </p:nvSpPr>
        <p:spPr bwMode="auto">
          <a:xfrm>
            <a:off x="7086600" y="2560320"/>
            <a:ext cx="1920240" cy="45720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375967946" name="Text 31"/>
          <p:cNvSpPr/>
          <p:nvPr/>
        </p:nvSpPr>
        <p:spPr bwMode="auto">
          <a:xfrm>
            <a:off x="7086600" y="3063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Card Dark</a:t>
            </a:r>
            <a:endParaRPr lang="en-US" sz="1000"/>
          </a:p>
        </p:txBody>
      </p:sp>
      <p:sp>
        <p:nvSpPr>
          <p:cNvPr id="958491199" name="Text 32"/>
          <p:cNvSpPr/>
          <p:nvPr/>
        </p:nvSpPr>
        <p:spPr bwMode="auto">
          <a:xfrm>
            <a:off x="7086600" y="32735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#101018</a:t>
            </a:r>
            <a:endParaRPr lang="en-US" sz="900"/>
          </a:p>
        </p:txBody>
      </p:sp>
      <p:sp>
        <p:nvSpPr>
          <p:cNvPr id="2116896031" name="Text 33"/>
          <p:cNvSpPr/>
          <p:nvPr/>
        </p:nvSpPr>
        <p:spPr bwMode="auto">
          <a:xfrm>
            <a:off x="7086600" y="34290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Tarjetas</a:t>
            </a:r>
            <a:endParaRPr lang="en-US" sz="800"/>
          </a:p>
        </p:txBody>
      </p:sp>
      <p:sp>
        <p:nvSpPr>
          <p:cNvPr id="664201219" name="Shape 34"/>
          <p:cNvSpPr/>
          <p:nvPr/>
        </p:nvSpPr>
        <p:spPr bwMode="auto">
          <a:xfrm>
            <a:off x="640080" y="3749040"/>
            <a:ext cx="1920240" cy="457200"/>
          </a:xfrm>
          <a:prstGeom prst="rect">
            <a:avLst/>
          </a:prstGeom>
          <a:solidFill>
            <a:srgbClr val="F0EEF5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03861773" name="Text 35"/>
          <p:cNvSpPr/>
          <p:nvPr/>
        </p:nvSpPr>
        <p:spPr bwMode="auto">
          <a:xfrm>
            <a:off x="640080" y="4251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White Soft</a:t>
            </a:r>
            <a:endParaRPr lang="en-US" sz="1000"/>
          </a:p>
        </p:txBody>
      </p:sp>
      <p:sp>
        <p:nvSpPr>
          <p:cNvPr id="1957838494" name="Text 36"/>
          <p:cNvSpPr/>
          <p:nvPr/>
        </p:nvSpPr>
        <p:spPr bwMode="auto">
          <a:xfrm>
            <a:off x="640080" y="446227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#F0EEF5</a:t>
            </a:r>
            <a:endParaRPr lang="en-US" sz="900"/>
          </a:p>
        </p:txBody>
      </p:sp>
      <p:sp>
        <p:nvSpPr>
          <p:cNvPr id="1119064263" name="Text 37"/>
          <p:cNvSpPr/>
          <p:nvPr/>
        </p:nvSpPr>
        <p:spPr bwMode="auto">
          <a:xfrm>
            <a:off x="640080" y="46177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Texto principal</a:t>
            </a:r>
            <a:endParaRPr lang="en-US" sz="800"/>
          </a:p>
        </p:txBody>
      </p:sp>
      <p:sp>
        <p:nvSpPr>
          <p:cNvPr id="1441461258" name="Shape 38"/>
          <p:cNvSpPr/>
          <p:nvPr/>
        </p:nvSpPr>
        <p:spPr bwMode="auto">
          <a:xfrm>
            <a:off x="2788920" y="3749040"/>
            <a:ext cx="1920240" cy="457200"/>
          </a:xfrm>
          <a:prstGeom prst="rect">
            <a:avLst/>
          </a:prstGeom>
          <a:solidFill>
            <a:srgbClr val="D4D0E0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949110967" name="Text 39"/>
          <p:cNvSpPr/>
          <p:nvPr/>
        </p:nvSpPr>
        <p:spPr bwMode="auto">
          <a:xfrm>
            <a:off x="2788920" y="4251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Text Primary</a:t>
            </a:r>
            <a:endParaRPr lang="en-US" sz="1000"/>
          </a:p>
        </p:txBody>
      </p:sp>
      <p:sp>
        <p:nvSpPr>
          <p:cNvPr id="223460919" name="Text 40"/>
          <p:cNvSpPr/>
          <p:nvPr/>
        </p:nvSpPr>
        <p:spPr bwMode="auto">
          <a:xfrm>
            <a:off x="2788920" y="446227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#D4D0E0</a:t>
            </a:r>
            <a:endParaRPr lang="en-US" sz="900"/>
          </a:p>
        </p:txBody>
      </p:sp>
      <p:sp>
        <p:nvSpPr>
          <p:cNvPr id="328813988" name="Text 41"/>
          <p:cNvSpPr/>
          <p:nvPr/>
        </p:nvSpPr>
        <p:spPr bwMode="auto">
          <a:xfrm>
            <a:off x="2788920" y="46177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Body text</a:t>
            </a:r>
            <a:endParaRPr lang="en-US" sz="800"/>
          </a:p>
        </p:txBody>
      </p:sp>
      <p:sp>
        <p:nvSpPr>
          <p:cNvPr id="1585259127" name="Shape 42"/>
          <p:cNvSpPr/>
          <p:nvPr/>
        </p:nvSpPr>
        <p:spPr bwMode="auto">
          <a:xfrm>
            <a:off x="4937760" y="3749040"/>
            <a:ext cx="1920240" cy="457200"/>
          </a:xfrm>
          <a:prstGeom prst="rect">
            <a:avLst/>
          </a:prstGeom>
          <a:solidFill>
            <a:srgbClr val="7E7A8E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93695643" name="Text 43"/>
          <p:cNvSpPr/>
          <p:nvPr/>
        </p:nvSpPr>
        <p:spPr bwMode="auto">
          <a:xfrm>
            <a:off x="4937760" y="4251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Text Secondary</a:t>
            </a:r>
            <a:endParaRPr lang="en-US" sz="1000"/>
          </a:p>
        </p:txBody>
      </p:sp>
      <p:sp>
        <p:nvSpPr>
          <p:cNvPr id="469364381" name="Text 44"/>
          <p:cNvSpPr/>
          <p:nvPr/>
        </p:nvSpPr>
        <p:spPr bwMode="auto">
          <a:xfrm>
            <a:off x="4937760" y="446227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#7E7A8E</a:t>
            </a:r>
            <a:endParaRPr lang="en-US" sz="900"/>
          </a:p>
        </p:txBody>
      </p:sp>
      <p:sp>
        <p:nvSpPr>
          <p:cNvPr id="231804555" name="Text 45"/>
          <p:cNvSpPr/>
          <p:nvPr/>
        </p:nvSpPr>
        <p:spPr bwMode="auto">
          <a:xfrm>
            <a:off x="4937760" y="46177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Descripciones</a:t>
            </a:r>
            <a:endParaRPr lang="en-US" sz="800"/>
          </a:p>
        </p:txBody>
      </p:sp>
      <p:sp>
        <p:nvSpPr>
          <p:cNvPr id="1255525175" name="Shape 46"/>
          <p:cNvSpPr/>
          <p:nvPr/>
        </p:nvSpPr>
        <p:spPr bwMode="auto">
          <a:xfrm>
            <a:off x="7086600" y="3749040"/>
            <a:ext cx="1920240" cy="457200"/>
          </a:xfrm>
          <a:prstGeom prst="rect">
            <a:avLst/>
          </a:prstGeom>
          <a:solidFill>
            <a:srgbClr val="4E4A5E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2016804130" name="Text 47"/>
          <p:cNvSpPr/>
          <p:nvPr/>
        </p:nvSpPr>
        <p:spPr bwMode="auto">
          <a:xfrm>
            <a:off x="7086600" y="4251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Text Muted</a:t>
            </a:r>
            <a:endParaRPr lang="en-US" sz="1000"/>
          </a:p>
        </p:txBody>
      </p:sp>
      <p:sp>
        <p:nvSpPr>
          <p:cNvPr id="565052173" name="Text 48"/>
          <p:cNvSpPr/>
          <p:nvPr/>
        </p:nvSpPr>
        <p:spPr bwMode="auto">
          <a:xfrm>
            <a:off x="7086600" y="446227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#4E4A5E</a:t>
            </a:r>
            <a:endParaRPr lang="en-US" sz="900"/>
          </a:p>
        </p:txBody>
      </p:sp>
      <p:sp>
        <p:nvSpPr>
          <p:cNvPr id="1240445070" name="Text 49"/>
          <p:cNvSpPr/>
          <p:nvPr/>
        </p:nvSpPr>
        <p:spPr bwMode="auto">
          <a:xfrm>
            <a:off x="7086600" y="46177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Metadata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102160" name="Text 0"/>
          <p:cNvSpPr/>
          <p:nvPr/>
        </p:nvSpPr>
        <p:spPr bwMode="auto"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05 — PALETA DE COLORES</a:t>
            </a:r>
            <a:endParaRPr lang="en-US" sz="1000"/>
          </a:p>
        </p:txBody>
      </p:sp>
      <p:sp>
        <p:nvSpPr>
          <p:cNvPr id="312278316" name="Text 1"/>
          <p:cNvSpPr/>
          <p:nvPr/>
        </p:nvSpPr>
        <p:spPr bwMode="auto">
          <a:xfrm>
            <a:off x="64008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Gradientes</a:t>
            </a:r>
            <a:endParaRPr lang="en-US" sz="2800"/>
          </a:p>
        </p:txBody>
      </p:sp>
      <p:sp>
        <p:nvSpPr>
          <p:cNvPr id="820518651" name="Shape 2"/>
          <p:cNvSpPr/>
          <p:nvPr/>
        </p:nvSpPr>
        <p:spPr bwMode="auto">
          <a:xfrm>
            <a:off x="640080" y="1371600"/>
            <a:ext cx="3840480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4741668" name="Shape 3"/>
          <p:cNvSpPr/>
          <p:nvPr/>
        </p:nvSpPr>
        <p:spPr bwMode="auto">
          <a:xfrm>
            <a:off x="2560320" y="1371600"/>
            <a:ext cx="1920240" cy="13716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71167838" name="Text 4"/>
          <p:cNvSpPr/>
          <p:nvPr/>
        </p:nvSpPr>
        <p:spPr bwMode="auto">
          <a:xfrm>
            <a:off x="822960" y="1508759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50507"/>
                </a:solidFill>
                <a:latin typeface="Courier New"/>
                <a:ea typeface="Courier New"/>
                <a:cs typeface="Courier New"/>
              </a:rPr>
              <a:t>GRADIENTE PRINCIPAL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050507"/>
                </a:solidFill>
                <a:latin typeface="Courier New"/>
                <a:ea typeface="Courier New"/>
                <a:cs typeface="Courier New"/>
              </a:rPr>
              <a:t>#8B5CF6 → #06D6A0 a 135°</a:t>
            </a:r>
            <a:endParaRPr lang="en-US" sz="1000"/>
          </a:p>
        </p:txBody>
      </p:sp>
      <p:sp>
        <p:nvSpPr>
          <p:cNvPr id="931989931" name="Text 5"/>
          <p:cNvSpPr/>
          <p:nvPr/>
        </p:nvSpPr>
        <p:spPr bwMode="auto">
          <a:xfrm>
            <a:off x="64008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CTAs, texto destacado, bordes premium</a:t>
            </a:r>
            <a:endParaRPr lang="en-US" sz="1000"/>
          </a:p>
        </p:txBody>
      </p:sp>
      <p:sp>
        <p:nvSpPr>
          <p:cNvPr id="284459564" name="Shape 6"/>
          <p:cNvSpPr/>
          <p:nvPr/>
        </p:nvSpPr>
        <p:spPr bwMode="auto">
          <a:xfrm>
            <a:off x="4754880" y="1371600"/>
            <a:ext cx="3840480" cy="13716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853126272" name="Text 7"/>
          <p:cNvSpPr/>
          <p:nvPr/>
        </p:nvSpPr>
        <p:spPr bwMode="auto">
          <a:xfrm>
            <a:off x="4937760" y="1508759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50507"/>
                </a:solidFill>
                <a:latin typeface="Courier New"/>
                <a:ea typeface="Courier New"/>
                <a:cs typeface="Courier New"/>
              </a:rPr>
              <a:t>GRADIENTE GOLD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050507"/>
                </a:solidFill>
                <a:latin typeface="Courier New"/>
                <a:ea typeface="Courier New"/>
                <a:cs typeface="Courier New"/>
              </a:rPr>
              <a:t>#F5C842 → #F59E0B</a:t>
            </a:r>
            <a:endParaRPr lang="en-US" sz="1000"/>
          </a:p>
        </p:txBody>
      </p:sp>
      <p:sp>
        <p:nvSpPr>
          <p:cNvPr id="1215333026" name="Text 8"/>
          <p:cNvSpPr/>
          <p:nvPr/>
        </p:nvSpPr>
        <p:spPr bwMode="auto">
          <a:xfrm>
            <a:off x="475488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Badges premium, planes fundador</a:t>
            </a:r>
            <a:endParaRPr lang="en-US" sz="1000"/>
          </a:p>
        </p:txBody>
      </p:sp>
      <p:sp>
        <p:nvSpPr>
          <p:cNvPr id="1596710798" name="Text 9"/>
          <p:cNvSpPr/>
          <p:nvPr/>
        </p:nvSpPr>
        <p:spPr bwMode="auto">
          <a:xfrm>
            <a:off x="64008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REGLA: El gradiente nunca se usa como fondo sólido de áreas grandes. Siempre como acento.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117034" name="Text 0"/>
          <p:cNvSpPr/>
          <p:nvPr/>
        </p:nvSpPr>
        <p:spPr bwMode="auto"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06 — TIPOGRAFÍA</a:t>
            </a:r>
            <a:endParaRPr lang="en-US" sz="1000"/>
          </a:p>
        </p:txBody>
      </p:sp>
      <p:sp>
        <p:nvSpPr>
          <p:cNvPr id="540049316" name="Shape 1"/>
          <p:cNvSpPr/>
          <p:nvPr/>
        </p:nvSpPr>
        <p:spPr bwMode="auto">
          <a:xfrm>
            <a:off x="640080" y="731520"/>
            <a:ext cx="3840480" cy="411480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76950534" name="Text 2"/>
          <p:cNvSpPr/>
          <p:nvPr/>
        </p:nvSpPr>
        <p:spPr bwMode="auto">
          <a:xfrm>
            <a:off x="822960" y="868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spc="2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DISPLAY</a:t>
            </a:r>
            <a:endParaRPr lang="en-US" sz="900"/>
          </a:p>
        </p:txBody>
      </p:sp>
      <p:sp>
        <p:nvSpPr>
          <p:cNvPr id="1343388175" name="Text 3"/>
          <p:cNvSpPr/>
          <p:nvPr/>
        </p:nvSpPr>
        <p:spPr bwMode="auto">
          <a:xfrm>
            <a:off x="82296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Playfair Display</a:t>
            </a:r>
            <a:endParaRPr lang="en-US" sz="2800"/>
          </a:p>
        </p:txBody>
      </p:sp>
      <p:sp>
        <p:nvSpPr>
          <p:cNvPr id="65027866" name="Text 4"/>
          <p:cNvSpPr/>
          <p:nvPr/>
        </p:nvSpPr>
        <p:spPr bwMode="auto">
          <a:xfrm>
            <a:off x="822960" y="17373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sz="1600">
                <a:solidFill>
                  <a:srgbClr val="D4D0E0"/>
                </a:solidFill>
                <a:latin typeface="Georgia"/>
                <a:ea typeface="Georgia"/>
                <a:cs typeface="Georgia"/>
              </a:rPr>
              <a:t>ABCDEFGHIJKLM</a:t>
            </a:r>
            <a:endParaRPr lang="en-US" sz="1600"/>
          </a:p>
          <a:p>
            <a:pPr marL="0" indent="0">
              <a:lnSpc>
                <a:spcPct val="140000"/>
              </a:lnSpc>
              <a:buNone/>
              <a:defRPr/>
            </a:pPr>
            <a:r>
              <a:rPr lang="en-US" sz="1600">
                <a:solidFill>
                  <a:srgbClr val="D4D0E0"/>
                </a:solidFill>
                <a:latin typeface="Georgia"/>
                <a:ea typeface="Georgia"/>
                <a:cs typeface="Georgia"/>
              </a:rPr>
              <a:t>NÑOPQRSTUVWXYZ</a:t>
            </a:r>
            <a:endParaRPr lang="en-US" sz="1600"/>
          </a:p>
          <a:p>
            <a:pPr marL="0" indent="0">
              <a:lnSpc>
                <a:spcPct val="140000"/>
              </a:lnSpc>
              <a:buNone/>
              <a:defRPr/>
            </a:pPr>
            <a:r>
              <a:rPr lang="en-US" sz="1600">
                <a:solidFill>
                  <a:srgbClr val="D4D0E0"/>
                </a:solidFill>
                <a:latin typeface="Georgia"/>
                <a:ea typeface="Georgia"/>
                <a:cs typeface="Georgia"/>
              </a:rPr>
              <a:t>abcdefghijklmnñopqrstuvwxyz</a:t>
            </a:r>
            <a:endParaRPr lang="en-US" sz="1600"/>
          </a:p>
          <a:p>
            <a:pPr marL="0" indent="0">
              <a:lnSpc>
                <a:spcPct val="140000"/>
              </a:lnSpc>
              <a:buNone/>
              <a:defRPr/>
            </a:pPr>
            <a:r>
              <a:rPr lang="en-US" sz="1600">
                <a:solidFill>
                  <a:srgbClr val="D4D0E0"/>
                </a:solidFill>
                <a:latin typeface="Georgia"/>
                <a:ea typeface="Georgia"/>
                <a:cs typeface="Georgia"/>
              </a:rPr>
              <a:t>1234567890 #$%&amp;</a:t>
            </a:r>
            <a:endParaRPr lang="en-US" sz="1600"/>
          </a:p>
        </p:txBody>
      </p:sp>
      <p:sp>
        <p:nvSpPr>
          <p:cNvPr id="1016999966" name="Text 5"/>
          <p:cNvSpPr/>
          <p:nvPr/>
        </p:nvSpPr>
        <p:spPr bwMode="auto">
          <a:xfrm>
            <a:off x="822960" y="3566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Headlines, títulos, wordmark.</a:t>
            </a:r>
            <a:endParaRPr lang="en-US" sz="1100"/>
          </a:p>
          <a:p>
            <a:pPr marL="0" indent="0">
              <a:lnSpc>
                <a:spcPct val="140000"/>
              </a:lnSpc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Italic = firma visual de la marca.</a:t>
            </a:r>
            <a:endParaRPr lang="en-US" sz="1100"/>
          </a:p>
        </p:txBody>
      </p:sp>
      <p:sp>
        <p:nvSpPr>
          <p:cNvPr id="512625407" name="Shape 6"/>
          <p:cNvSpPr/>
          <p:nvPr/>
        </p:nvSpPr>
        <p:spPr bwMode="auto">
          <a:xfrm>
            <a:off x="4754880" y="731520"/>
            <a:ext cx="3840480" cy="192024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795618153" name="Text 7"/>
          <p:cNvSpPr/>
          <p:nvPr/>
        </p:nvSpPr>
        <p:spPr bwMode="auto">
          <a:xfrm>
            <a:off x="4937760" y="868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spc="200">
                <a:solidFill>
                  <a:srgbClr val="06D6A0"/>
                </a:solidFill>
                <a:latin typeface="Courier New"/>
                <a:ea typeface="Courier New"/>
                <a:cs typeface="Courier New"/>
              </a:rPr>
              <a:t>BODY</a:t>
            </a:r>
            <a:endParaRPr lang="en-US" sz="900"/>
          </a:p>
        </p:txBody>
      </p:sp>
      <p:sp>
        <p:nvSpPr>
          <p:cNvPr id="1045711571" name="Text 8"/>
          <p:cNvSpPr/>
          <p:nvPr/>
        </p:nvSpPr>
        <p:spPr bwMode="auto"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Outfit</a:t>
            </a:r>
            <a:endParaRPr lang="en-US" sz="2400"/>
          </a:p>
        </p:txBody>
      </p:sp>
      <p:sp>
        <p:nvSpPr>
          <p:cNvPr id="948121241" name="Text 9"/>
          <p:cNvSpPr/>
          <p:nvPr/>
        </p:nvSpPr>
        <p:spPr bwMode="auto">
          <a:xfrm>
            <a:off x="4937760" y="1600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ABCDEFGHIJKLMNÑOPQRSTUVWXYZ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abcdefghijklmnñopqrstuvwxyz 1234567890</a:t>
            </a:r>
            <a:endParaRPr lang="en-US" sz="1100"/>
          </a:p>
        </p:txBody>
      </p:sp>
      <p:sp>
        <p:nvSpPr>
          <p:cNvPr id="506419881" name="Text 10"/>
          <p:cNvSpPr/>
          <p:nvPr/>
        </p:nvSpPr>
        <p:spPr bwMode="auto">
          <a:xfrm>
            <a:off x="493776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Body text, navegación, botones, UI</a:t>
            </a:r>
            <a:endParaRPr lang="en-US" sz="1000"/>
          </a:p>
        </p:txBody>
      </p:sp>
      <p:sp>
        <p:nvSpPr>
          <p:cNvPr id="663919831" name="Shape 11"/>
          <p:cNvSpPr/>
          <p:nvPr/>
        </p:nvSpPr>
        <p:spPr bwMode="auto">
          <a:xfrm>
            <a:off x="4754880" y="2926080"/>
            <a:ext cx="3840480" cy="192024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359516214" name="Text 12"/>
          <p:cNvSpPr/>
          <p:nvPr/>
        </p:nvSpPr>
        <p:spPr bwMode="auto">
          <a:xfrm>
            <a:off x="4937760" y="3063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spc="200">
                <a:solidFill>
                  <a:srgbClr val="F5C842"/>
                </a:solidFill>
                <a:latin typeface="Courier New"/>
                <a:ea typeface="Courier New"/>
                <a:cs typeface="Courier New"/>
              </a:rPr>
              <a:t>MONO</a:t>
            </a:r>
            <a:endParaRPr lang="en-US" sz="900"/>
          </a:p>
        </p:txBody>
      </p:sp>
      <p:sp>
        <p:nvSpPr>
          <p:cNvPr id="1050571009" name="Text 13"/>
          <p:cNvSpPr/>
          <p:nvPr/>
        </p:nvSpPr>
        <p:spPr bwMode="auto">
          <a:xfrm>
            <a:off x="493776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F0EEF5"/>
                </a:solidFill>
                <a:latin typeface="Courier New"/>
                <a:ea typeface="Courier New"/>
                <a:cs typeface="Courier New"/>
              </a:rPr>
              <a:t>JetBrains Mono</a:t>
            </a:r>
            <a:endParaRPr lang="en-US" sz="2000"/>
          </a:p>
        </p:txBody>
      </p:sp>
      <p:sp>
        <p:nvSpPr>
          <p:cNvPr id="1175261377" name="Text 14"/>
          <p:cNvSpPr/>
          <p:nvPr/>
        </p:nvSpPr>
        <p:spPr bwMode="auto">
          <a:xfrm>
            <a:off x="4937760" y="3794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4D0E0"/>
                </a:solidFill>
                <a:latin typeface="Courier New"/>
                <a:ea typeface="Courier New"/>
                <a:cs typeface="Courier New"/>
              </a:rPr>
              <a:t>ABCDEFGHIJKLMNÑOPQRSTUVWXYZ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D4D0E0"/>
                </a:solidFill>
                <a:latin typeface="Courier New"/>
                <a:ea typeface="Courier New"/>
                <a:cs typeface="Courier New"/>
              </a:rPr>
              <a:t>0123456789 !@#$%^&amp;*()</a:t>
            </a:r>
            <a:endParaRPr lang="en-US" sz="1100"/>
          </a:p>
        </p:txBody>
      </p:sp>
      <p:sp>
        <p:nvSpPr>
          <p:cNvPr id="197006446" name="Text 15"/>
          <p:cNvSpPr/>
          <p:nvPr/>
        </p:nvSpPr>
        <p:spPr bwMode="auto">
          <a:xfrm>
            <a:off x="4937760" y="4389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Tags, badges, stats, código, labels técnicos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04457" name="Text 0"/>
          <p:cNvSpPr/>
          <p:nvPr/>
        </p:nvSpPr>
        <p:spPr bwMode="auto"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07 — VOCABULARIO</a:t>
            </a:r>
            <a:endParaRPr lang="en-US" sz="1000"/>
          </a:p>
        </p:txBody>
      </p:sp>
      <p:sp>
        <p:nvSpPr>
          <p:cNvPr id="1355483046" name="Text 1"/>
          <p:cNvSpPr/>
          <p:nvPr/>
        </p:nvSpPr>
        <p:spPr bwMode="auto">
          <a:xfrm>
            <a:off x="64008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Usamos / No Usamos</a:t>
            </a:r>
            <a:endParaRPr lang="en-US" sz="3200"/>
          </a:p>
        </p:txBody>
      </p:sp>
      <p:sp>
        <p:nvSpPr>
          <p:cNvPr id="431485389" name="Shape 2"/>
          <p:cNvSpPr/>
          <p:nvPr/>
        </p:nvSpPr>
        <p:spPr bwMode="auto">
          <a:xfrm>
            <a:off x="640080" y="1371600"/>
            <a:ext cx="3840480" cy="4114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40856679" name="Text 3"/>
          <p:cNvSpPr/>
          <p:nvPr/>
        </p:nvSpPr>
        <p:spPr bwMode="auto">
          <a:xfrm>
            <a:off x="64008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0EEF5"/>
                </a:solidFill>
                <a:latin typeface="Courier New"/>
                <a:ea typeface="Courier New"/>
                <a:cs typeface="Courier New"/>
              </a:rPr>
              <a:t>SÍ USAMOS</a:t>
            </a:r>
            <a:endParaRPr lang="en-US" sz="1000"/>
          </a:p>
        </p:txBody>
      </p:sp>
      <p:sp>
        <p:nvSpPr>
          <p:cNvPr id="1140697997" name="Shape 4"/>
          <p:cNvSpPr/>
          <p:nvPr/>
        </p:nvSpPr>
        <p:spPr bwMode="auto">
          <a:xfrm>
            <a:off x="4754880" y="1371600"/>
            <a:ext cx="3840480" cy="411480"/>
          </a:xfrm>
          <a:prstGeom prst="rect">
            <a:avLst/>
          </a:prstGeom>
          <a:solidFill>
            <a:srgbClr val="3A1515"/>
          </a:solidFill>
          <a:ln/>
        </p:spPr>
      </p:sp>
      <p:sp>
        <p:nvSpPr>
          <p:cNvPr id="1098059619" name="Text 5"/>
          <p:cNvSpPr/>
          <p:nvPr/>
        </p:nvSpPr>
        <p:spPr bwMode="auto">
          <a:xfrm>
            <a:off x="475488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6B6B"/>
                </a:solidFill>
                <a:latin typeface="Courier New"/>
                <a:ea typeface="Courier New"/>
                <a:cs typeface="Courier New"/>
              </a:rPr>
              <a:t>NO USAMOS</a:t>
            </a:r>
            <a:endParaRPr lang="en-US" sz="1000"/>
          </a:p>
        </p:txBody>
      </p:sp>
      <p:sp>
        <p:nvSpPr>
          <p:cNvPr id="177688891" name="Shape 6"/>
          <p:cNvSpPr/>
          <p:nvPr/>
        </p:nvSpPr>
        <p:spPr bwMode="auto">
          <a:xfrm>
            <a:off x="640080" y="1874520"/>
            <a:ext cx="3840480" cy="411480"/>
          </a:xfrm>
          <a:prstGeom prst="rect">
            <a:avLst/>
          </a:prstGeom>
          <a:solidFill>
            <a:srgbClr val="101018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1038938914" name="Text 7"/>
          <p:cNvSpPr/>
          <p:nvPr/>
        </p:nvSpPr>
        <p:spPr bwMode="auto">
          <a:xfrm>
            <a:off x="82296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Infraestructura de IA</a:t>
            </a:r>
            <a:endParaRPr lang="en-US" sz="1300"/>
          </a:p>
        </p:txBody>
      </p:sp>
      <p:sp>
        <p:nvSpPr>
          <p:cNvPr id="886362854" name="Shape 8"/>
          <p:cNvSpPr/>
          <p:nvPr/>
        </p:nvSpPr>
        <p:spPr bwMode="auto">
          <a:xfrm>
            <a:off x="4754880" y="1874520"/>
            <a:ext cx="3840480" cy="411480"/>
          </a:xfrm>
          <a:prstGeom prst="rect">
            <a:avLst/>
          </a:prstGeom>
          <a:solidFill>
            <a:srgbClr val="101018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1625847839" name="Text 9"/>
          <p:cNvSpPr/>
          <p:nvPr/>
        </p:nvSpPr>
        <p:spPr bwMode="auto">
          <a:xfrm>
            <a:off x="493776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E4A5E"/>
                </a:solidFill>
                <a:latin typeface="Calibri"/>
                <a:ea typeface="Calibri"/>
                <a:cs typeface="Calibri"/>
              </a:rPr>
              <a:t>Chatbot</a:t>
            </a:r>
            <a:endParaRPr lang="en-US" sz="1300"/>
          </a:p>
        </p:txBody>
      </p:sp>
      <p:sp>
        <p:nvSpPr>
          <p:cNvPr id="1794837625" name="Shape 10"/>
          <p:cNvSpPr/>
          <p:nvPr/>
        </p:nvSpPr>
        <p:spPr bwMode="auto">
          <a:xfrm>
            <a:off x="640080" y="2331720"/>
            <a:ext cx="3840480" cy="411480"/>
          </a:xfrm>
          <a:prstGeom prst="rect">
            <a:avLst/>
          </a:prstGeom>
          <a:solidFill>
            <a:srgbClr val="050507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905438367" name="Text 11"/>
          <p:cNvSpPr/>
          <p:nvPr/>
        </p:nvSpPr>
        <p:spPr bwMode="auto">
          <a:xfrm>
            <a:off x="82296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Sistema operativo</a:t>
            </a:r>
            <a:endParaRPr lang="en-US" sz="1300"/>
          </a:p>
        </p:txBody>
      </p:sp>
      <p:sp>
        <p:nvSpPr>
          <p:cNvPr id="1713931417" name="Shape 12"/>
          <p:cNvSpPr/>
          <p:nvPr/>
        </p:nvSpPr>
        <p:spPr bwMode="auto">
          <a:xfrm>
            <a:off x="4754880" y="2331720"/>
            <a:ext cx="3840480" cy="411480"/>
          </a:xfrm>
          <a:prstGeom prst="rect">
            <a:avLst/>
          </a:prstGeom>
          <a:solidFill>
            <a:srgbClr val="050507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1712625629" name="Text 13"/>
          <p:cNvSpPr/>
          <p:nvPr/>
        </p:nvSpPr>
        <p:spPr bwMode="auto">
          <a:xfrm>
            <a:off x="493776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E4A5E"/>
                </a:solidFill>
                <a:latin typeface="Calibri"/>
                <a:ea typeface="Calibri"/>
                <a:cs typeface="Calibri"/>
              </a:rPr>
              <a:t>Software</a:t>
            </a:r>
            <a:endParaRPr lang="en-US" sz="1300"/>
          </a:p>
        </p:txBody>
      </p:sp>
      <p:sp>
        <p:nvSpPr>
          <p:cNvPr id="448110702" name="Shape 14"/>
          <p:cNvSpPr/>
          <p:nvPr/>
        </p:nvSpPr>
        <p:spPr bwMode="auto">
          <a:xfrm>
            <a:off x="640080" y="2788920"/>
            <a:ext cx="3840480" cy="411480"/>
          </a:xfrm>
          <a:prstGeom prst="rect">
            <a:avLst/>
          </a:prstGeom>
          <a:solidFill>
            <a:srgbClr val="101018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1095341222" name="Text 15"/>
          <p:cNvSpPr/>
          <p:nvPr/>
        </p:nvSpPr>
        <p:spPr bwMode="auto">
          <a:xfrm>
            <a:off x="822960" y="2788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Inteligencia autónoma</a:t>
            </a:r>
            <a:endParaRPr lang="en-US" sz="1300"/>
          </a:p>
        </p:txBody>
      </p:sp>
      <p:sp>
        <p:nvSpPr>
          <p:cNvPr id="251715004" name="Shape 16"/>
          <p:cNvSpPr/>
          <p:nvPr/>
        </p:nvSpPr>
        <p:spPr bwMode="auto">
          <a:xfrm>
            <a:off x="4754880" y="2788920"/>
            <a:ext cx="3840480" cy="411480"/>
          </a:xfrm>
          <a:prstGeom prst="rect">
            <a:avLst/>
          </a:prstGeom>
          <a:solidFill>
            <a:srgbClr val="101018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589787273" name="Text 17"/>
          <p:cNvSpPr/>
          <p:nvPr/>
        </p:nvSpPr>
        <p:spPr bwMode="auto">
          <a:xfrm>
            <a:off x="4937760" y="2788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E4A5E"/>
                </a:solidFill>
                <a:latin typeface="Calibri"/>
                <a:ea typeface="Calibri"/>
                <a:cs typeface="Calibri"/>
              </a:rPr>
              <a:t>Bot / Robot</a:t>
            </a:r>
            <a:endParaRPr lang="en-US" sz="1300"/>
          </a:p>
        </p:txBody>
      </p:sp>
      <p:sp>
        <p:nvSpPr>
          <p:cNvPr id="922832949" name="Shape 18"/>
          <p:cNvSpPr/>
          <p:nvPr/>
        </p:nvSpPr>
        <p:spPr bwMode="auto">
          <a:xfrm>
            <a:off x="640080" y="3246120"/>
            <a:ext cx="3840480" cy="411480"/>
          </a:xfrm>
          <a:prstGeom prst="rect">
            <a:avLst/>
          </a:prstGeom>
          <a:solidFill>
            <a:srgbClr val="050507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1099691874" name="Text 19"/>
          <p:cNvSpPr/>
          <p:nvPr/>
        </p:nvSpPr>
        <p:spPr bwMode="auto">
          <a:xfrm>
            <a:off x="82296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Plataforma</a:t>
            </a:r>
            <a:endParaRPr lang="en-US" sz="1300"/>
          </a:p>
        </p:txBody>
      </p:sp>
      <p:sp>
        <p:nvSpPr>
          <p:cNvPr id="44032286" name="Shape 20"/>
          <p:cNvSpPr/>
          <p:nvPr/>
        </p:nvSpPr>
        <p:spPr bwMode="auto">
          <a:xfrm>
            <a:off x="4754880" y="3246120"/>
            <a:ext cx="3840480" cy="411480"/>
          </a:xfrm>
          <a:prstGeom prst="rect">
            <a:avLst/>
          </a:prstGeom>
          <a:solidFill>
            <a:srgbClr val="050507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1762084488" name="Text 21"/>
          <p:cNvSpPr/>
          <p:nvPr/>
        </p:nvSpPr>
        <p:spPr bwMode="auto">
          <a:xfrm>
            <a:off x="493776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E4A5E"/>
                </a:solidFill>
                <a:latin typeface="Calibri"/>
                <a:ea typeface="Calibri"/>
                <a:cs typeface="Calibri"/>
              </a:rPr>
              <a:t>Herramienta</a:t>
            </a:r>
            <a:endParaRPr lang="en-US" sz="1300"/>
          </a:p>
        </p:txBody>
      </p:sp>
      <p:sp>
        <p:nvSpPr>
          <p:cNvPr id="1794457875" name="Shape 22"/>
          <p:cNvSpPr/>
          <p:nvPr/>
        </p:nvSpPr>
        <p:spPr bwMode="auto">
          <a:xfrm>
            <a:off x="640080" y="3703320"/>
            <a:ext cx="3840480" cy="411480"/>
          </a:xfrm>
          <a:prstGeom prst="rect">
            <a:avLst/>
          </a:prstGeom>
          <a:solidFill>
            <a:srgbClr val="101018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1789785053" name="Text 23"/>
          <p:cNvSpPr/>
          <p:nvPr/>
        </p:nvSpPr>
        <p:spPr bwMode="auto">
          <a:xfrm>
            <a:off x="822960" y="3703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Opera tu </a:t>
            </a:r>
            <a:r>
              <a:rPr lang="es-ES" sz="1300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compañia</a:t>
            </a:r>
            <a:endParaRPr lang="en-US" sz="1300"/>
          </a:p>
        </p:txBody>
      </p:sp>
      <p:sp>
        <p:nvSpPr>
          <p:cNvPr id="398514080" name="Shape 24"/>
          <p:cNvSpPr/>
          <p:nvPr/>
        </p:nvSpPr>
        <p:spPr bwMode="auto">
          <a:xfrm>
            <a:off x="4754880" y="3703320"/>
            <a:ext cx="3840480" cy="411480"/>
          </a:xfrm>
          <a:prstGeom prst="rect">
            <a:avLst/>
          </a:prstGeom>
          <a:solidFill>
            <a:srgbClr val="101018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1038733337" name="Text 25"/>
          <p:cNvSpPr/>
          <p:nvPr/>
        </p:nvSpPr>
        <p:spPr bwMode="auto">
          <a:xfrm>
            <a:off x="4937760" y="3703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E4A5E"/>
                </a:solidFill>
                <a:latin typeface="Calibri"/>
                <a:ea typeface="Calibri"/>
                <a:cs typeface="Calibri"/>
              </a:rPr>
              <a:t>Automatiza tareas</a:t>
            </a:r>
            <a:endParaRPr lang="en-US" sz="1300"/>
          </a:p>
        </p:txBody>
      </p:sp>
      <p:sp>
        <p:nvSpPr>
          <p:cNvPr id="80984642" name="Shape 26"/>
          <p:cNvSpPr/>
          <p:nvPr/>
        </p:nvSpPr>
        <p:spPr bwMode="auto">
          <a:xfrm>
            <a:off x="640080" y="4160519"/>
            <a:ext cx="3840480" cy="411480"/>
          </a:xfrm>
          <a:prstGeom prst="rect">
            <a:avLst/>
          </a:prstGeom>
          <a:solidFill>
            <a:srgbClr val="050507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313203933" name="Text 27"/>
          <p:cNvSpPr/>
          <p:nvPr/>
        </p:nvSpPr>
        <p:spPr bwMode="auto">
          <a:xfrm>
            <a:off x="822960" y="4160519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0EEF5"/>
                </a:solidFill>
                <a:latin typeface="Calibri"/>
                <a:ea typeface="Calibri"/>
                <a:cs typeface="Calibri"/>
              </a:rPr>
              <a:t>Revenue engine</a:t>
            </a:r>
            <a:endParaRPr lang="en-US" sz="1300"/>
          </a:p>
        </p:txBody>
      </p:sp>
      <p:sp>
        <p:nvSpPr>
          <p:cNvPr id="41240321" name="Shape 28"/>
          <p:cNvSpPr/>
          <p:nvPr/>
        </p:nvSpPr>
        <p:spPr bwMode="auto">
          <a:xfrm>
            <a:off x="4754880" y="4160519"/>
            <a:ext cx="3840480" cy="411480"/>
          </a:xfrm>
          <a:prstGeom prst="rect">
            <a:avLst/>
          </a:prstGeom>
          <a:solidFill>
            <a:srgbClr val="050507"/>
          </a:solidFill>
          <a:ln w="3810">
            <a:solidFill>
              <a:srgbClr val="1C1C2A"/>
            </a:solidFill>
            <a:prstDash val="solid"/>
          </a:ln>
        </p:spPr>
      </p:sp>
      <p:sp>
        <p:nvSpPr>
          <p:cNvPr id="274287823" name="Text 29"/>
          <p:cNvSpPr/>
          <p:nvPr/>
        </p:nvSpPr>
        <p:spPr bwMode="auto">
          <a:xfrm>
            <a:off x="4937760" y="4160519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E4A5E"/>
                </a:solidFill>
                <a:latin typeface="Calibri"/>
                <a:ea typeface="Calibri"/>
                <a:cs typeface="Calibri"/>
              </a:rPr>
              <a:t>Generador de ventas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057112" name="Text 0"/>
          <p:cNvSpPr/>
          <p:nvPr/>
        </p:nvSpPr>
        <p:spPr bwMode="auto"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08 — APLICACIONES</a:t>
            </a:r>
            <a:endParaRPr lang="en-US" sz="1000"/>
          </a:p>
        </p:txBody>
      </p:sp>
      <p:sp>
        <p:nvSpPr>
          <p:cNvPr id="1524932808" name="Text 1"/>
          <p:cNvSpPr/>
          <p:nvPr/>
        </p:nvSpPr>
        <p:spPr bwMode="auto">
          <a:xfrm>
            <a:off x="64008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Contextos de Uso</a:t>
            </a:r>
            <a:endParaRPr lang="en-US" sz="3200"/>
          </a:p>
        </p:txBody>
      </p:sp>
      <p:sp>
        <p:nvSpPr>
          <p:cNvPr id="1543766146" name="Shape 2"/>
          <p:cNvSpPr/>
          <p:nvPr/>
        </p:nvSpPr>
        <p:spPr bwMode="auto">
          <a:xfrm>
            <a:off x="640080" y="1371600"/>
            <a:ext cx="2560320" cy="146304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021202564" name="Text 3"/>
          <p:cNvSpPr/>
          <p:nvPr/>
        </p:nvSpPr>
        <p:spPr bwMode="auto">
          <a:xfrm>
            <a:off x="822960" y="150875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1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WEB / LANDING</a:t>
            </a:r>
            <a:endParaRPr lang="en-US" sz="900"/>
          </a:p>
        </p:txBody>
      </p:sp>
      <p:sp>
        <p:nvSpPr>
          <p:cNvPr id="1797802375" name="Text 4"/>
          <p:cNvSpPr/>
          <p:nvPr/>
        </p:nvSpPr>
        <p:spPr bwMode="auto">
          <a:xfrm>
            <a:off x="822960" y="18288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Fondo oscuro. Playfair headlines. Gradiente en CTAs. Grid sutil.</a:t>
            </a:r>
            <a:endParaRPr lang="en-US" sz="1100"/>
          </a:p>
        </p:txBody>
      </p:sp>
      <p:sp>
        <p:nvSpPr>
          <p:cNvPr id="2025099331" name="Shape 5"/>
          <p:cNvSpPr/>
          <p:nvPr/>
        </p:nvSpPr>
        <p:spPr bwMode="auto">
          <a:xfrm>
            <a:off x="3474720" y="1371600"/>
            <a:ext cx="2560320" cy="146304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603328685" name="Text 6"/>
          <p:cNvSpPr/>
          <p:nvPr/>
        </p:nvSpPr>
        <p:spPr bwMode="auto">
          <a:xfrm>
            <a:off x="3657600" y="150875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1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DASHBOARD</a:t>
            </a:r>
            <a:endParaRPr lang="en-US" sz="900"/>
          </a:p>
        </p:txBody>
      </p:sp>
      <p:sp>
        <p:nvSpPr>
          <p:cNvPr id="1639689288" name="Text 7"/>
          <p:cNvSpPr/>
          <p:nvPr/>
        </p:nvSpPr>
        <p:spPr bwMode="auto">
          <a:xfrm>
            <a:off x="3657600" y="18288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Fondo oscuro. Cards con bordes sutiles. Cyan = positivo. Púrpura = acciones.</a:t>
            </a:r>
            <a:endParaRPr lang="en-US" sz="1100"/>
          </a:p>
        </p:txBody>
      </p:sp>
      <p:sp>
        <p:nvSpPr>
          <p:cNvPr id="2053361197" name="Shape 8"/>
          <p:cNvSpPr/>
          <p:nvPr/>
        </p:nvSpPr>
        <p:spPr bwMode="auto">
          <a:xfrm>
            <a:off x="6309360" y="1371600"/>
            <a:ext cx="2560320" cy="146304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371345347" name="Text 9"/>
          <p:cNvSpPr/>
          <p:nvPr/>
        </p:nvSpPr>
        <p:spPr bwMode="auto">
          <a:xfrm>
            <a:off x="6492240" y="150875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1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REDES SOCIALES</a:t>
            </a:r>
            <a:endParaRPr lang="en-US" sz="900"/>
          </a:p>
        </p:txBody>
      </p:sp>
      <p:sp>
        <p:nvSpPr>
          <p:cNvPr id="1494271423" name="Text 10"/>
          <p:cNvSpPr/>
          <p:nvPr/>
        </p:nvSpPr>
        <p:spPr bwMode="auto">
          <a:xfrm>
            <a:off x="6492240" y="18288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Fondo oscuro. Screenshots reales. Sin fotos de stock.</a:t>
            </a:r>
            <a:endParaRPr lang="en-US" sz="1100"/>
          </a:p>
        </p:txBody>
      </p:sp>
      <p:sp>
        <p:nvSpPr>
          <p:cNvPr id="1551158462" name="Shape 11"/>
          <p:cNvSpPr/>
          <p:nvPr/>
        </p:nvSpPr>
        <p:spPr bwMode="auto">
          <a:xfrm>
            <a:off x="640080" y="3108960"/>
            <a:ext cx="2560320" cy="146304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959276364" name="Text 12"/>
          <p:cNvSpPr/>
          <p:nvPr/>
        </p:nvSpPr>
        <p:spPr bwMode="auto">
          <a:xfrm>
            <a:off x="82296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1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EMAIL</a:t>
            </a:r>
            <a:endParaRPr lang="en-US" sz="900"/>
          </a:p>
        </p:txBody>
      </p:sp>
      <p:sp>
        <p:nvSpPr>
          <p:cNvPr id="2076431851" name="Text 13"/>
          <p:cNvSpPr/>
          <p:nvPr/>
        </p:nvSpPr>
        <p:spPr bwMode="auto">
          <a:xfrm>
            <a:off x="822960" y="3566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Header oscuro con wordmark. Body blanco. CTA con gradiente.</a:t>
            </a:r>
            <a:endParaRPr lang="en-US" sz="1100"/>
          </a:p>
        </p:txBody>
      </p:sp>
      <p:sp>
        <p:nvSpPr>
          <p:cNvPr id="638561367" name="Shape 14"/>
          <p:cNvSpPr/>
          <p:nvPr/>
        </p:nvSpPr>
        <p:spPr bwMode="auto">
          <a:xfrm>
            <a:off x="3474720" y="3108960"/>
            <a:ext cx="2560320" cy="146304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003477248" name="Text 15"/>
          <p:cNvSpPr/>
          <p:nvPr/>
        </p:nvSpPr>
        <p:spPr bwMode="auto">
          <a:xfrm>
            <a:off x="365760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1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PITCH DECK</a:t>
            </a:r>
            <a:endParaRPr lang="en-US" sz="900"/>
          </a:p>
        </p:txBody>
      </p:sp>
      <p:sp>
        <p:nvSpPr>
          <p:cNvPr id="1018807081" name="Text 16"/>
          <p:cNvSpPr/>
          <p:nvPr/>
        </p:nvSpPr>
        <p:spPr bwMode="auto">
          <a:xfrm>
            <a:off x="3657600" y="3566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Slides oscuros. Máx 3 bullets. Números grandes Playfair italic.</a:t>
            </a:r>
            <a:endParaRPr lang="en-US" sz="1100"/>
          </a:p>
        </p:txBody>
      </p:sp>
      <p:sp>
        <p:nvSpPr>
          <p:cNvPr id="1685276958" name="Shape 17"/>
          <p:cNvSpPr/>
          <p:nvPr/>
        </p:nvSpPr>
        <p:spPr bwMode="auto">
          <a:xfrm>
            <a:off x="6309360" y="3108960"/>
            <a:ext cx="2560320" cy="146304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733509046" name="Text 18"/>
          <p:cNvSpPr/>
          <p:nvPr/>
        </p:nvSpPr>
        <p:spPr bwMode="auto">
          <a:xfrm>
            <a:off x="649224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1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DOCUMENTOS</a:t>
            </a:r>
            <a:endParaRPr lang="en-US" sz="900"/>
          </a:p>
        </p:txBody>
      </p:sp>
      <p:sp>
        <p:nvSpPr>
          <p:cNvPr id="371292078" name="Text 19"/>
          <p:cNvSpPr/>
          <p:nvPr/>
        </p:nvSpPr>
        <p:spPr bwMode="auto">
          <a:xfrm>
            <a:off x="6492240" y="3566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Fondo blanco. Georgia + Calibri. Púrpura como acento.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514690" name="Text 0"/>
          <p:cNvSpPr/>
          <p:nvPr/>
        </p:nvSpPr>
        <p:spPr bwMode="auto"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8B5CF6"/>
                </a:solidFill>
                <a:latin typeface="Courier New"/>
                <a:ea typeface="Courier New"/>
                <a:cs typeface="Courier New"/>
              </a:rPr>
              <a:t>09 — NAMING</a:t>
            </a:r>
            <a:endParaRPr lang="en-US" sz="1000"/>
          </a:p>
        </p:txBody>
      </p:sp>
      <p:sp>
        <p:nvSpPr>
          <p:cNvPr id="360194764" name="Text 1"/>
          <p:cNvSpPr/>
          <p:nvPr/>
        </p:nvSpPr>
        <p:spPr bwMode="auto">
          <a:xfrm>
            <a:off x="64008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Convenciones de Nombres</a:t>
            </a:r>
            <a:endParaRPr lang="en-US" sz="3200"/>
          </a:p>
        </p:txBody>
      </p:sp>
      <p:sp>
        <p:nvSpPr>
          <p:cNvPr id="909733185" name="Shape 2"/>
          <p:cNvSpPr/>
          <p:nvPr/>
        </p:nvSpPr>
        <p:spPr bwMode="auto">
          <a:xfrm>
            <a:off x="640080" y="1371600"/>
            <a:ext cx="8229600" cy="137160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1922392151" name="Text 3"/>
          <p:cNvSpPr/>
          <p:nvPr/>
        </p:nvSpPr>
        <p:spPr bwMode="auto">
          <a:xfrm>
            <a:off x="82296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ATARAXIA IA LABS</a:t>
            </a:r>
            <a:endParaRPr lang="en-US" sz="2200"/>
          </a:p>
        </p:txBody>
      </p:sp>
      <p:sp>
        <p:nvSpPr>
          <p:cNvPr id="1916646297" name="Text 4"/>
          <p:cNvSpPr/>
          <p:nvPr/>
        </p:nvSpPr>
        <p:spPr bwMode="auto">
          <a:xfrm>
            <a:off x="82296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La empresa. Comunicación corporativa, contratos, prensa, inversión.</a:t>
            </a:r>
            <a:endParaRPr lang="en-US" sz="1200"/>
          </a:p>
        </p:txBody>
      </p:sp>
      <p:sp>
        <p:nvSpPr>
          <p:cNvPr id="36166136" name="Text 5"/>
          <p:cNvSpPr/>
          <p:nvPr/>
        </p:nvSpPr>
        <p:spPr bwMode="auto">
          <a:xfrm>
            <a:off x="822960" y="2194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7E7A8E"/>
                </a:solidFill>
                <a:latin typeface="Courier New"/>
                <a:ea typeface="Courier New"/>
                <a:cs typeface="Courier New"/>
              </a:rPr>
              <a:t>✓ Ataraxia IA Labs    ✓ Ataraxia    ✕ ataraxia    ✕ ATARAXIA IA LABS</a:t>
            </a:r>
            <a:endParaRPr lang="en-US" sz="1000"/>
          </a:p>
        </p:txBody>
      </p:sp>
      <p:sp>
        <p:nvSpPr>
          <p:cNvPr id="1402772724" name="Shape 6"/>
          <p:cNvSpPr/>
          <p:nvPr/>
        </p:nvSpPr>
        <p:spPr bwMode="auto">
          <a:xfrm>
            <a:off x="640080" y="2926080"/>
            <a:ext cx="8229600" cy="1371600"/>
          </a:xfrm>
          <a:prstGeom prst="rect">
            <a:avLst/>
          </a:prstGeom>
          <a:solidFill>
            <a:srgbClr val="101018"/>
          </a:solidFill>
          <a:ln w="6350">
            <a:solidFill>
              <a:srgbClr val="1C1C2A"/>
            </a:solidFill>
            <a:prstDash val="solid"/>
          </a:ln>
        </p:spPr>
      </p:sp>
      <p:sp>
        <p:nvSpPr>
          <p:cNvPr id="53223392" name="Text 7"/>
          <p:cNvSpPr/>
          <p:nvPr/>
        </p:nvSpPr>
        <p:spPr bwMode="auto">
          <a:xfrm>
            <a:off x="822960" y="3017519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A78BFA"/>
                </a:solidFill>
                <a:latin typeface="Georgia"/>
                <a:ea typeface="Georgia"/>
                <a:cs typeface="Georgia"/>
              </a:rPr>
              <a:t>SofIA</a:t>
            </a:r>
            <a:endParaRPr lang="en-US" sz="2200"/>
          </a:p>
        </p:txBody>
      </p:sp>
      <p:sp>
        <p:nvSpPr>
          <p:cNvPr id="834828877" name="Text 8"/>
          <p:cNvSpPr/>
          <p:nvPr/>
        </p:nvSpPr>
        <p:spPr bwMode="auto">
          <a:xfrm>
            <a:off x="82296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D4D0E0"/>
                </a:solidFill>
                <a:latin typeface="Calibri"/>
                <a:ea typeface="Calibri"/>
                <a:cs typeface="Calibri"/>
              </a:rPr>
              <a:t>El producto. Smart Office Intelligence Assistant. La IA que opera la clínica.</a:t>
            </a:r>
            <a:endParaRPr lang="en-US" sz="1200"/>
          </a:p>
        </p:txBody>
      </p:sp>
      <p:sp>
        <p:nvSpPr>
          <p:cNvPr id="1364005651" name="Text 9"/>
          <p:cNvSpPr/>
          <p:nvPr/>
        </p:nvSpPr>
        <p:spPr bwMode="auto">
          <a:xfrm>
            <a:off x="82296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7E7A8E"/>
                </a:solidFill>
                <a:latin typeface="Courier New"/>
                <a:ea typeface="Courier New"/>
                <a:cs typeface="Courier New"/>
              </a:rPr>
              <a:t>✓ SofIA    ✓ SofIA by Ataraxia    ✕ Sofia    ✕ SOFIA    ✕ Sofía</a:t>
            </a:r>
            <a:endParaRPr lang="en-US" sz="1000"/>
          </a:p>
        </p:txBody>
      </p:sp>
      <p:sp>
        <p:nvSpPr>
          <p:cNvPr id="553591224" name="Text 10"/>
          <p:cNvSpPr/>
          <p:nvPr/>
        </p:nvSpPr>
        <p:spPr bwMode="auto">
          <a:xfrm>
            <a:off x="64008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7E7A8E"/>
                </a:solidFill>
                <a:latin typeface="Calibri"/>
                <a:ea typeface="Calibri"/>
                <a:cs typeface="Calibri"/>
              </a:rPr>
              <a:t>En inglés se acepta "Ataraxia AI Labs". SofIA siempre se escribe igual en ambos idiomas.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05050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617226" name="Image 0" descr="preencoded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2743200" y="457200"/>
            <a:ext cx="3657600" cy="3657600"/>
          </a:xfrm>
          <a:prstGeom prst="rect">
            <a:avLst/>
          </a:prstGeom>
        </p:spPr>
      </p:pic>
      <p:sp>
        <p:nvSpPr>
          <p:cNvPr id="1987615473" name="Text 0"/>
          <p:cNvSpPr/>
          <p:nvPr/>
        </p:nvSpPr>
        <p:spPr bwMode="auto"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000">
                <a:solidFill>
                  <a:srgbClr val="F0EEF5"/>
                </a:solidFill>
                <a:latin typeface="Georgia"/>
                <a:ea typeface="Georgia"/>
                <a:cs typeface="Georgia"/>
              </a:rPr>
              <a:t>Ataraxia IA Labs</a:t>
            </a:r>
            <a:endParaRPr lang="en-US" sz="3000"/>
          </a:p>
        </p:txBody>
      </p:sp>
      <p:sp>
        <p:nvSpPr>
          <p:cNvPr id="507839558" name="Text 1"/>
          <p:cNvSpPr/>
          <p:nvPr/>
        </p:nvSpPr>
        <p:spPr bwMode="auto"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i="1">
                <a:solidFill>
                  <a:srgbClr val="A78BFA"/>
                </a:solidFill>
                <a:latin typeface="Georgia"/>
                <a:ea typeface="Georgia"/>
                <a:cs typeface="Georgia"/>
              </a:rPr>
              <a:t>El sistema operativo de la c</a:t>
            </a:r>
            <a:r>
              <a:rPr lang="es-ES" sz="1600" i="1">
                <a:solidFill>
                  <a:srgbClr val="A78BFA"/>
                </a:solidFill>
                <a:latin typeface="Georgia"/>
                <a:ea typeface="Georgia"/>
                <a:cs typeface="Georgia"/>
              </a:rPr>
              <a:t>ompañia</a:t>
            </a:r>
            <a:r>
              <a:rPr lang="en-US" sz="1600" i="1">
                <a:solidFill>
                  <a:srgbClr val="A78BFA"/>
                </a:solidFill>
                <a:latin typeface="Georgia"/>
                <a:ea typeface="Georgia"/>
                <a:cs typeface="Georgia"/>
              </a:rPr>
              <a:t> moderna.</a:t>
            </a:r>
            <a:endParaRPr lang="en-US" sz="1600"/>
          </a:p>
        </p:txBody>
      </p:sp>
      <p:sp>
        <p:nvSpPr>
          <p:cNvPr id="963731072" name="Shape 2"/>
          <p:cNvSpPr/>
          <p:nvPr/>
        </p:nvSpPr>
        <p:spPr bwMode="auto">
          <a:xfrm>
            <a:off x="3200400" y="4800600"/>
            <a:ext cx="2743200" cy="0"/>
          </a:xfrm>
          <a:prstGeom prst="line">
            <a:avLst/>
          </a:prstGeom>
          <a:noFill/>
          <a:ln w="6350">
            <a:solidFill>
              <a:srgbClr val="8B5CF6"/>
            </a:solidFill>
            <a:prstDash val="solid"/>
          </a:ln>
        </p:spPr>
      </p:sp>
      <p:sp>
        <p:nvSpPr>
          <p:cNvPr id="291780000" name="Text 3"/>
          <p:cNvSpPr/>
          <p:nvPr/>
        </p:nvSpPr>
        <p:spPr bwMode="auto">
          <a:xfrm>
            <a:off x="457200" y="4892039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E4A5E"/>
                </a:solidFill>
                <a:latin typeface="Courier New"/>
                <a:ea typeface="Courier New"/>
                <a:cs typeface="Courier New"/>
              </a:rPr>
              <a:t>Brand Identity System v1.0 — Confidencial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Ataraxia IA Labs — Brand Identity System v1.0</dc:title>
  <dc:subject>PptxGenJS Presentation</dc:subject>
  <dc:creator>Ataraxia IA Labs</dc:creator>
  <cp:lastModifiedBy/>
  <cp:revision>2</cp:revision>
  <dcterms:created xsi:type="dcterms:W3CDTF">2026-02-18T17:44:03Z</dcterms:created>
  <dcterms:modified xsi:type="dcterms:W3CDTF">2026-02-18T17:59:57Z</dcterms:modified>
</cp:coreProperties>
</file>